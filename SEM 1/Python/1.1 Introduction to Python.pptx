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79" d="100"/>
          <a:sy n="79" d="100"/>
        </p:scale>
        <p:origin x="1146" y="78"/>
      </p:cViewPr>
      <p:guideLst>
        <p:guide pos="288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1DFF86-42A1-DDCE-D901-7328743AB74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217A97-F612-678E-E321-93F0F4CAF11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5E4882F-1077-FD57-A186-F386B1CD72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6992B3C-8DA3-59A6-B17D-282DF36D16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C99359-41FA-5C85-C14B-6BC6A942152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FDC590-64E1-BD11-535C-239C68814BE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1AD9CE-427D-B09D-5841-E5B57C7BDE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EF3038-8754-CBE2-D4E7-7088EDD60A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3D9AE2-DEA6-3C66-BAE4-7787E9453A9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17CD51-83F2-6985-D017-E876E98E12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1450791" name="Title 1"/>
          <p:cNvSpPr>
            <a:spLocks noGrp="1"/>
          </p:cNvSpPr>
          <p:nvPr>
            <p:ph type="ctrTitle"/>
          </p:nvPr>
        </p:nvSpPr>
        <p:spPr bwMode="auto"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88035302" name="Subtitle 2"/>
          <p:cNvSpPr>
            <a:spLocks noGrp="1"/>
          </p:cNvSpPr>
          <p:nvPr>
            <p:ph type="subTitle" idx="1"/>
          </p:nvPr>
        </p:nvSpPr>
        <p:spPr bwMode="auto"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214704624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FFE0739-51D7-4C99-9B6A-EBEF50CE1403}" type="datetimeFigureOut">
              <a:rPr lang="en-IN"/>
              <a:t>10-03-2025</a:t>
            </a:fld>
            <a:endParaRPr lang="en-IN"/>
          </a:p>
        </p:txBody>
      </p:sp>
      <p:sp>
        <p:nvSpPr>
          <p:cNvPr id="94840022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29966709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4155BA1-DF33-46FA-A0CF-6580BE26B8FF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39806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7242958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2000068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FFE0739-51D7-4C99-9B6A-EBEF50CE1403}" type="datetimeFigureOut">
              <a:rPr lang="en-IN"/>
              <a:t>10-03-2025</a:t>
            </a:fld>
            <a:endParaRPr lang="en-IN"/>
          </a:p>
        </p:txBody>
      </p:sp>
      <p:sp>
        <p:nvSpPr>
          <p:cNvPr id="42924944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48959574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4155BA1-DF33-46FA-A0CF-6580BE26B8FF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9439666" name="Title 1"/>
          <p:cNvSpPr>
            <a:spLocks noGrp="1"/>
          </p:cNvSpPr>
          <p:nvPr>
            <p:ph type="title"/>
          </p:nvPr>
        </p:nvSpPr>
        <p:spPr bwMode="auto"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9878759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645392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FFE0739-51D7-4C99-9B6A-EBEF50CE1403}" type="datetimeFigureOut">
              <a:rPr lang="en-IN"/>
              <a:t>10-03-2025</a:t>
            </a:fld>
            <a:endParaRPr lang="en-IN"/>
          </a:p>
        </p:txBody>
      </p:sp>
      <p:sp>
        <p:nvSpPr>
          <p:cNvPr id="189266132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6876652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4155BA1-DF33-46FA-A0CF-6580BE26B8FF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933729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85461164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28650" y="1825625"/>
            <a:ext cx="38862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3373481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29150" y="1825625"/>
            <a:ext cx="38862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512691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FFE0739-51D7-4C99-9B6A-EBEF50CE1403}" type="datetimeFigureOut">
              <a:rPr lang="en-IN"/>
              <a:t>10-03-2025</a:t>
            </a:fld>
            <a:endParaRPr lang="en-IN"/>
          </a:p>
        </p:txBody>
      </p:sp>
      <p:sp>
        <p:nvSpPr>
          <p:cNvPr id="26615335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80813961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4155BA1-DF33-46FA-A0CF-6580BE26B8FF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2205704" name="Title 1"/>
          <p:cNvSpPr>
            <a:spLocks noGrp="1"/>
          </p:cNvSpPr>
          <p:nvPr>
            <p:ph type="title"/>
          </p:nvPr>
        </p:nvSpPr>
        <p:spPr bwMode="auto">
          <a:xfrm>
            <a:off x="629841" y="365126"/>
            <a:ext cx="78867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3099458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5872022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29842" y="2505074"/>
            <a:ext cx="3868340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8958925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9254379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29150" y="2505074"/>
            <a:ext cx="3887391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7094808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FFE0739-51D7-4C99-9B6A-EBEF50CE1403}" type="datetimeFigureOut">
              <a:rPr lang="en-IN"/>
              <a:t>10-03-2025</a:t>
            </a:fld>
            <a:endParaRPr lang="en-IN"/>
          </a:p>
        </p:txBody>
      </p:sp>
      <p:sp>
        <p:nvSpPr>
          <p:cNvPr id="378399740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982776767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4155BA1-DF33-46FA-A0CF-6580BE26B8FF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87464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920917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FFE0739-51D7-4C99-9B6A-EBEF50CE1403}" type="datetimeFigureOut">
              <a:rPr lang="en-IN"/>
              <a:t>10-03-2025</a:t>
            </a:fld>
            <a:endParaRPr lang="en-IN"/>
          </a:p>
        </p:txBody>
      </p:sp>
      <p:sp>
        <p:nvSpPr>
          <p:cNvPr id="1889227111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37156487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4155BA1-DF33-46FA-A0CF-6580BE26B8FF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623822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FFE0739-51D7-4C99-9B6A-EBEF50CE1403}" type="datetimeFigureOut">
              <a:rPr lang="en-IN"/>
              <a:t>10-03-2025</a:t>
            </a:fld>
            <a:endParaRPr lang="en-IN"/>
          </a:p>
        </p:txBody>
      </p:sp>
      <p:sp>
        <p:nvSpPr>
          <p:cNvPr id="147195919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2719708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4155BA1-DF33-46FA-A0CF-6580BE26B8FF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9357058" name="Title 1"/>
          <p:cNvSpPr>
            <a:spLocks noGrp="1"/>
          </p:cNvSpPr>
          <p:nvPr>
            <p:ph type="title"/>
          </p:nvPr>
        </p:nvSpPr>
        <p:spPr bwMode="auto"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67619991" name="Content Placeholder 2"/>
          <p:cNvSpPr>
            <a:spLocks noGrp="1"/>
          </p:cNvSpPr>
          <p:nvPr>
            <p:ph idx="1"/>
          </p:nvPr>
        </p:nvSpPr>
        <p:spPr bwMode="auto"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2836613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3577528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FFE0739-51D7-4C99-9B6A-EBEF50CE1403}" type="datetimeFigureOut">
              <a:rPr lang="en-IN"/>
              <a:t>10-03-2025</a:t>
            </a:fld>
            <a:endParaRPr lang="en-IN"/>
          </a:p>
        </p:txBody>
      </p:sp>
      <p:sp>
        <p:nvSpPr>
          <p:cNvPr id="166653904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72061686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4155BA1-DF33-46FA-A0CF-6580BE26B8FF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2522594" name="Title 1"/>
          <p:cNvSpPr>
            <a:spLocks noGrp="1"/>
          </p:cNvSpPr>
          <p:nvPr>
            <p:ph type="title"/>
          </p:nvPr>
        </p:nvSpPr>
        <p:spPr bwMode="auto"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38674802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54208010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5398854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FFE0739-51D7-4C99-9B6A-EBEF50CE1403}" type="datetimeFigureOut">
              <a:rPr lang="en-IN"/>
              <a:t>10-03-2025</a:t>
            </a:fld>
            <a:endParaRPr lang="en-IN"/>
          </a:p>
        </p:txBody>
      </p:sp>
      <p:sp>
        <p:nvSpPr>
          <p:cNvPr id="28452438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59462141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4155BA1-DF33-46FA-A0CF-6580BE26B8FF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579208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64118741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8066469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FFE0739-51D7-4C99-9B6A-EBEF50CE1403}" type="datetimeFigureOut">
              <a:rPr lang="en-IN"/>
              <a:t>10-03-2025</a:t>
            </a:fld>
            <a:endParaRPr lang="en-IN"/>
          </a:p>
        </p:txBody>
      </p:sp>
      <p:sp>
        <p:nvSpPr>
          <p:cNvPr id="179124212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44429645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4155BA1-DF33-46FA-A0CF-6580BE26B8FF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649737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543675" y="365125"/>
            <a:ext cx="1971675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350518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28650" y="365125"/>
            <a:ext cx="5800725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6486430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FFE0739-51D7-4C99-9B6A-EBEF50CE1403}" type="datetimeFigureOut">
              <a:rPr lang="en-IN"/>
              <a:t>10-03-2025</a:t>
            </a:fld>
            <a:endParaRPr lang="en-IN"/>
          </a:p>
        </p:txBody>
      </p:sp>
      <p:sp>
        <p:nvSpPr>
          <p:cNvPr id="128261546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28471332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4155BA1-DF33-46FA-A0CF-6580BE26B8FF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1361633" name="Title Placeholder 1"/>
          <p:cNvSpPr>
            <a:spLocks noGrp="1"/>
          </p:cNvSpPr>
          <p:nvPr>
            <p:ph type="title"/>
          </p:nvPr>
        </p:nvSpPr>
        <p:spPr bwMode="auto"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2787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4373752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1FFE0739-51D7-4C99-9B6A-EBEF50CE1403}" type="datetimeFigureOut">
              <a:rPr lang="en-IN"/>
              <a:t>10-03-2025</a:t>
            </a:fld>
            <a:endParaRPr lang="en-IN"/>
          </a:p>
        </p:txBody>
      </p:sp>
      <p:sp>
        <p:nvSpPr>
          <p:cNvPr id="54655600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109591201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44155BA1-DF33-46FA-A0CF-6580BE26B8FF}" type="slidenum">
              <a:rPr lang="en-IN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8690070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Introduction to Python</a:t>
            </a:r>
            <a:endParaRPr lang="en-IN"/>
          </a:p>
        </p:txBody>
      </p:sp>
      <p:sp>
        <p:nvSpPr>
          <p:cNvPr id="476577999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940918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Python Developed</a:t>
            </a:r>
            <a:endParaRPr lang="en-IN"/>
          </a:p>
        </p:txBody>
      </p:sp>
      <p:sp>
        <p:nvSpPr>
          <p:cNvPr id="184039320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b="1">
                <a:solidFill>
                  <a:srgbClr val="FF0000"/>
                </a:solidFill>
              </a:rPr>
              <a:t>Guido van Rossum</a:t>
            </a:r>
            <a:r>
              <a:rPr lang="en-US" b="0" i="0">
                <a:solidFill>
                  <a:srgbClr val="001D35"/>
                </a:solidFill>
                <a:latin typeface="Google Sans"/>
              </a:rPr>
              <a:t> developed Python, a high-level programming language, and first released it in February 1991</a:t>
            </a:r>
            <a:endParaRPr/>
          </a:p>
          <a:p>
            <a:pPr marL="228600" marR="0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Roughly 22.9 million active developers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lang="en-IN"/>
          </a:p>
        </p:txBody>
      </p:sp>
      <p:sp>
        <p:nvSpPr>
          <p:cNvPr id="1709318854" name=""/>
          <p:cNvSpPr txBox="1"/>
          <p:nvPr/>
        </p:nvSpPr>
        <p:spPr bwMode="auto">
          <a:xfrm rot="0" flipH="0" flipV="0">
            <a:off x="4545491" y="3575778"/>
            <a:ext cx="91312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0605430" name="Title 1"/>
          <p:cNvSpPr>
            <a:spLocks noGrp="1"/>
          </p:cNvSpPr>
          <p:nvPr>
            <p:ph type="title"/>
          </p:nvPr>
        </p:nvSpPr>
        <p:spPr bwMode="auto">
          <a:xfrm>
            <a:off x="628650" y="247904"/>
            <a:ext cx="7886700" cy="866266"/>
          </a:xfrm>
        </p:spPr>
        <p:txBody>
          <a:bodyPr/>
          <a:lstStyle/>
          <a:p>
            <a:pPr>
              <a:defRPr/>
            </a:pPr>
            <a:r>
              <a:rPr lang="en-US"/>
              <a:t>Why People Use Python?</a:t>
            </a:r>
            <a:endParaRPr lang="en-IN"/>
          </a:p>
        </p:txBody>
      </p:sp>
      <p:sp>
        <p:nvSpPr>
          <p:cNvPr id="43207323" name="Content Placeholder 2"/>
          <p:cNvSpPr>
            <a:spLocks noGrp="1"/>
          </p:cNvSpPr>
          <p:nvPr>
            <p:ph idx="1"/>
          </p:nvPr>
        </p:nvSpPr>
        <p:spPr bwMode="auto">
          <a:xfrm>
            <a:off x="628650" y="963168"/>
            <a:ext cx="7886700" cy="5213795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IN" b="1" u="sng"/>
              <a:t>Software quality</a:t>
            </a:r>
            <a:r>
              <a:rPr lang="en-IN"/>
              <a:t>: </a:t>
            </a:r>
            <a:r>
              <a:rPr lang="en-US"/>
              <a:t>, Python’s focus on readability, coherence, and software quality in general sets it apart from other tools</a:t>
            </a:r>
            <a:endParaRPr/>
          </a:p>
          <a:p>
            <a:pPr>
              <a:defRPr/>
            </a:pPr>
            <a:r>
              <a:rPr lang="en-US"/>
              <a:t>uniformity of Python code makes it easy to understand</a:t>
            </a:r>
            <a:endParaRPr/>
          </a:p>
          <a:p>
            <a:pPr>
              <a:defRPr/>
            </a:pPr>
            <a:r>
              <a:rPr lang="en-IN"/>
              <a:t>Developer Productivity: </a:t>
            </a:r>
            <a:r>
              <a:rPr lang="en-US"/>
              <a:t>Python code is typically one-third to one-fifth the size of equivalent C++ or Java code</a:t>
            </a:r>
            <a:endParaRPr/>
          </a:p>
          <a:p>
            <a:pPr>
              <a:defRPr/>
            </a:pPr>
            <a:r>
              <a:rPr lang="en-US"/>
              <a:t>Less to type, less to debug, less to maintain</a:t>
            </a:r>
            <a:endParaRPr/>
          </a:p>
          <a:p>
            <a:pPr>
              <a:defRPr/>
            </a:pPr>
            <a:r>
              <a:rPr lang="en-US" b="1" u="sng"/>
              <a:t>Program Portability</a:t>
            </a:r>
            <a:endParaRPr/>
          </a:p>
          <a:p>
            <a:pPr>
              <a:defRPr/>
            </a:pPr>
            <a:r>
              <a:rPr lang="en-US" b="1" u="sng"/>
              <a:t>Support Libraries</a:t>
            </a:r>
            <a:endParaRPr/>
          </a:p>
          <a:p>
            <a:pPr>
              <a:defRPr/>
            </a:pPr>
            <a:r>
              <a:rPr lang="en-US" b="1" u="sng"/>
              <a:t>Component Integration</a:t>
            </a:r>
            <a:endParaRPr lang="en-IN" b="1" u="sng"/>
          </a:p>
          <a:p>
            <a:pPr>
              <a:defRPr/>
            </a:pPr>
            <a:endParaRPr lang="en-IN" b="1" u="sng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8674695" name="Title 1"/>
          <p:cNvSpPr>
            <a:spLocks noGrp="1"/>
          </p:cNvSpPr>
          <p:nvPr>
            <p:ph type="title"/>
          </p:nvPr>
        </p:nvSpPr>
        <p:spPr bwMode="auto">
          <a:xfrm>
            <a:off x="628650" y="365127"/>
            <a:ext cx="7886700" cy="975994"/>
          </a:xfrm>
        </p:spPr>
        <p:txBody>
          <a:bodyPr/>
          <a:lstStyle/>
          <a:p>
            <a:pPr>
              <a:defRPr/>
            </a:pPr>
            <a:r>
              <a:rPr lang="en-US"/>
              <a:t>Where is Python Used today?</a:t>
            </a:r>
            <a:endParaRPr lang="en-IN"/>
          </a:p>
        </p:txBody>
      </p:sp>
      <p:sp>
        <p:nvSpPr>
          <p:cNvPr id="305682577" name="Content Placeholder 2"/>
          <p:cNvSpPr>
            <a:spLocks noGrp="1"/>
          </p:cNvSpPr>
          <p:nvPr>
            <p:ph idx="1"/>
          </p:nvPr>
        </p:nvSpPr>
        <p:spPr bwMode="auto">
          <a:xfrm>
            <a:off x="628650" y="1341121"/>
            <a:ext cx="7886700" cy="5151752"/>
          </a:xfrm>
        </p:spPr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en-US"/>
              <a:t>Google makes extensive use of Python in its web search systems, and employs Python’s creator.</a:t>
            </a:r>
            <a:endParaRPr/>
          </a:p>
          <a:p>
            <a:pPr>
              <a:defRPr/>
            </a:pPr>
            <a:r>
              <a:rPr lang="en-US"/>
              <a:t>YouTube video sharing service is largely written in Python</a:t>
            </a:r>
            <a:endParaRPr/>
          </a:p>
          <a:p>
            <a:pPr>
              <a:defRPr/>
            </a:pPr>
            <a:r>
              <a:rPr lang="en-US"/>
              <a:t>The popular BitTorrent peer-to-peer file sharing system is a Python program</a:t>
            </a:r>
            <a:endParaRPr/>
          </a:p>
          <a:p>
            <a:pPr>
              <a:defRPr/>
            </a:pPr>
            <a:r>
              <a:rPr lang="en-US"/>
              <a:t>Google’s popular App Engine web development framework uses Python as its application language.</a:t>
            </a:r>
            <a:endParaRPr/>
          </a:p>
          <a:p>
            <a:pPr>
              <a:defRPr/>
            </a:pPr>
            <a:r>
              <a:rPr lang="en-US"/>
              <a:t>EVE Online, a Massively Multiplayer Online Game (MMOG), makes extensive use of Python.</a:t>
            </a:r>
            <a:endParaRPr/>
          </a:p>
          <a:p>
            <a:pPr>
              <a:defRPr/>
            </a:pPr>
            <a:r>
              <a:rPr lang="en-US"/>
              <a:t>Maya, a powerful integrated 3D modeling and animation system, provides a Python scripting API. </a:t>
            </a:r>
            <a:endParaRPr/>
          </a:p>
          <a:p>
            <a:pPr>
              <a:defRPr/>
            </a:pPr>
            <a:r>
              <a:rPr lang="en-IN"/>
              <a:t>Intel, Cisco, Hewlett-Packard, Seagate, Qualcomm, and IBM use Python for hardware testing.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197122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Where is Python Used today?</a:t>
            </a:r>
            <a:endParaRPr lang="en-IN"/>
          </a:p>
        </p:txBody>
      </p:sp>
      <p:sp>
        <p:nvSpPr>
          <p:cNvPr id="1967812534" name="Content Placeholder 2"/>
          <p:cNvSpPr>
            <a:spLocks noGrp="1"/>
          </p:cNvSpPr>
          <p:nvPr>
            <p:ph idx="1"/>
          </p:nvPr>
        </p:nvSpPr>
        <p:spPr bwMode="auto">
          <a:xfrm>
            <a:off x="628650" y="1438656"/>
            <a:ext cx="7886700" cy="473830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/>
              <a:t>Industrial Light &amp; Magic, Pixar, and others use Python in the production of animated movies.</a:t>
            </a:r>
            <a:endParaRPr/>
          </a:p>
          <a:p>
            <a:pPr>
              <a:defRPr/>
            </a:pPr>
            <a:r>
              <a:rPr lang="en-US"/>
              <a:t>JPMorgan Chase, UBS, </a:t>
            </a:r>
            <a:r>
              <a:rPr lang="en-US"/>
              <a:t>Getco</a:t>
            </a:r>
            <a:r>
              <a:rPr lang="en-US"/>
              <a:t>, and Citadel apply Python for financial market forecasting</a:t>
            </a:r>
            <a:endParaRPr/>
          </a:p>
          <a:p>
            <a:pPr>
              <a:defRPr/>
            </a:pPr>
            <a:r>
              <a:rPr lang="en-US"/>
              <a:t>NASA, Los Alamos, Fermilab, JPL, and others use Python for scientific programming tasks.</a:t>
            </a:r>
            <a:endParaRPr/>
          </a:p>
          <a:p>
            <a:pPr>
              <a:defRPr/>
            </a:pPr>
            <a:r>
              <a:rPr lang="en-IN"/>
              <a:t>iRobot uses Python to develop commercial robotic devices.</a:t>
            </a:r>
            <a:endParaRPr lang="en-US"/>
          </a:p>
          <a:p>
            <a:pPr>
              <a:defRPr/>
            </a:pPr>
            <a:r>
              <a:rPr lang="en-US"/>
              <a:t>ESRI uses Python as an end-user customization tool for its popular GIS mapping products.</a:t>
            </a:r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950988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Where is Python Used today?</a:t>
            </a:r>
            <a:endParaRPr lang="en-IN"/>
          </a:p>
        </p:txBody>
      </p:sp>
      <p:sp>
        <p:nvSpPr>
          <p:cNvPr id="78670407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The NSA uses Python for cryptography and intelligence analysis. </a:t>
            </a:r>
            <a:endParaRPr/>
          </a:p>
          <a:p>
            <a:pPr>
              <a:defRPr/>
            </a:pPr>
            <a:r>
              <a:rPr lang="en-US"/>
              <a:t>The IronPort email server product uses more than 1 million lines of Python code to do its job.</a:t>
            </a:r>
            <a:endParaRPr/>
          </a:p>
          <a:p>
            <a:pPr>
              <a:defRPr/>
            </a:pPr>
            <a:r>
              <a:rPr lang="en-US"/>
              <a:t>The One Laptop Per Child (OLPC) project builds its user interface and activity model in Python.</a:t>
            </a:r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6865990" name="Title 1"/>
          <p:cNvSpPr>
            <a:spLocks noGrp="1"/>
          </p:cNvSpPr>
          <p:nvPr>
            <p:ph type="title"/>
          </p:nvPr>
        </p:nvSpPr>
        <p:spPr bwMode="auto">
          <a:xfrm>
            <a:off x="628650" y="365127"/>
            <a:ext cx="7886700" cy="561466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/>
              <a:t>Python Implementation</a:t>
            </a:r>
            <a:endParaRPr lang="en-IN"/>
          </a:p>
        </p:txBody>
      </p:sp>
      <p:sp>
        <p:nvSpPr>
          <p:cNvPr id="1025042270" name="Content Placeholder 2"/>
          <p:cNvSpPr>
            <a:spLocks noGrp="1"/>
          </p:cNvSpPr>
          <p:nvPr>
            <p:ph idx="1"/>
          </p:nvPr>
        </p:nvSpPr>
        <p:spPr bwMode="auto">
          <a:xfrm>
            <a:off x="628650" y="1036320"/>
            <a:ext cx="7886700" cy="5140643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/>
              <a:t>Systems Programming</a:t>
            </a:r>
            <a:endParaRPr/>
          </a:p>
          <a:p>
            <a:pPr lvl="1">
              <a:defRPr/>
            </a:pPr>
            <a:r>
              <a:rPr lang="en-US"/>
              <a:t>Python’s built-in interfaces to operating-system services make it ideal for writing portable, maintainable system-administration tools and utilities</a:t>
            </a:r>
            <a:endParaRPr/>
          </a:p>
          <a:p>
            <a:pPr lvl="1">
              <a:defRPr/>
            </a:pPr>
            <a:r>
              <a:rPr lang="en-US"/>
              <a:t>Python programs can search files and directory trees, launch other programs, do parallel processing with processes and threads</a:t>
            </a:r>
            <a:endParaRPr/>
          </a:p>
          <a:p>
            <a:pPr lvl="1">
              <a:defRPr/>
            </a:pPr>
            <a:r>
              <a:rPr lang="en-US"/>
              <a:t>Python’s standard library comes with POSIX bindings and support for all the usual OS tools: environment variables, files, sockets, pipes, processes, multiple threads, regular expression pattern matching, command-line arguments, standard stream interfaces, shell-command launchers, filename expansion</a:t>
            </a:r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5847743" name="Title 1"/>
          <p:cNvSpPr>
            <a:spLocks noGrp="1"/>
          </p:cNvSpPr>
          <p:nvPr>
            <p:ph type="title"/>
          </p:nvPr>
        </p:nvSpPr>
        <p:spPr bwMode="auto">
          <a:xfrm>
            <a:off x="628650" y="365127"/>
            <a:ext cx="7886700" cy="915034"/>
          </a:xfrm>
        </p:spPr>
        <p:txBody>
          <a:bodyPr/>
          <a:lstStyle/>
          <a:p>
            <a:pPr>
              <a:defRPr/>
            </a:pPr>
            <a:r>
              <a:rPr lang="en-US"/>
              <a:t>Python Implementation</a:t>
            </a:r>
            <a:endParaRPr lang="en-IN"/>
          </a:p>
        </p:txBody>
      </p:sp>
      <p:sp>
        <p:nvSpPr>
          <p:cNvPr id="1736800909" name="Content Placeholder 2"/>
          <p:cNvSpPr>
            <a:spLocks noGrp="1"/>
          </p:cNvSpPr>
          <p:nvPr>
            <p:ph idx="1"/>
          </p:nvPr>
        </p:nvSpPr>
        <p:spPr bwMode="auto">
          <a:xfrm>
            <a:off x="628650" y="1536192"/>
            <a:ext cx="7886700" cy="4640771"/>
          </a:xfrm>
        </p:spPr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/>
              <a:t>GUIs</a:t>
            </a:r>
            <a:endParaRPr/>
          </a:p>
          <a:p>
            <a:pPr lvl="1">
              <a:defRPr/>
            </a:pPr>
            <a:r>
              <a:rPr lang="en-US"/>
              <a:t>Python’s simplicity and rapid turnaround also make it a good match for graphical user interface programming.</a:t>
            </a:r>
            <a:endParaRPr/>
          </a:p>
          <a:p>
            <a:pPr lvl="1">
              <a:defRPr/>
            </a:pPr>
            <a:r>
              <a:rPr lang="en-US"/>
              <a:t>Python comes with a standard object-oriented interface to the Tk GUI API called </a:t>
            </a:r>
            <a:r>
              <a:rPr lang="en-US"/>
              <a:t>tkinter</a:t>
            </a:r>
            <a:endParaRPr lang="en-US"/>
          </a:p>
          <a:p>
            <a:pPr>
              <a:defRPr/>
            </a:pPr>
            <a:r>
              <a:rPr lang="en-US"/>
              <a:t>Internet Scripting</a:t>
            </a:r>
            <a:endParaRPr/>
          </a:p>
          <a:p>
            <a:pPr lvl="1">
              <a:defRPr/>
            </a:pPr>
            <a:r>
              <a:rPr lang="en-IN"/>
              <a:t>Python comes with standard Internet modules that allow Python programs to perform a wide variety of networking tasks, in client and server modes.</a:t>
            </a:r>
            <a:endParaRPr/>
          </a:p>
          <a:p>
            <a:pPr lvl="1">
              <a:defRPr/>
            </a:pPr>
            <a:r>
              <a:rPr lang="en-IN"/>
              <a:t> Scripts can communicate over sockets; </a:t>
            </a:r>
            <a:endParaRPr/>
          </a:p>
          <a:p>
            <a:pPr lvl="1">
              <a:defRPr/>
            </a:pPr>
            <a:r>
              <a:rPr lang="en-IN"/>
              <a:t>extract form information sent to server-side CGI scripts; </a:t>
            </a:r>
            <a:endParaRPr/>
          </a:p>
          <a:p>
            <a:pPr lvl="1">
              <a:defRPr/>
            </a:pPr>
            <a:r>
              <a:rPr lang="en-IN"/>
              <a:t>transfer files by FTP; parse, generate, and </a:t>
            </a:r>
            <a:r>
              <a:rPr lang="en-IN"/>
              <a:t>analyze</a:t>
            </a:r>
            <a:r>
              <a:rPr lang="en-IN"/>
              <a:t> XML files; send, receive, compose, and parse email;</a:t>
            </a:r>
            <a:endParaRPr/>
          </a:p>
          <a:p>
            <a:pPr lvl="1">
              <a:defRPr/>
            </a:pPr>
            <a:r>
              <a:rPr lang="en-IN"/>
              <a:t>fetch web pages by URLs; </a:t>
            </a:r>
            <a:endParaRPr/>
          </a:p>
          <a:p>
            <a:pPr lvl="1">
              <a:defRPr/>
            </a:pPr>
            <a:r>
              <a:rPr lang="en-IN"/>
              <a:t>parse the HTML and XML of fetched web pages; </a:t>
            </a:r>
            <a:endParaRPr/>
          </a:p>
          <a:p>
            <a:pPr lvl="1">
              <a:defRPr/>
            </a:pPr>
            <a:r>
              <a:rPr lang="en-IN"/>
              <a:t>communicate over XML-RPC, SOAP, and Telnet; and more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8479206" name="Content Placeholder 2"/>
          <p:cNvSpPr>
            <a:spLocks noGrp="1"/>
          </p:cNvSpPr>
          <p:nvPr>
            <p:ph idx="1"/>
          </p:nvPr>
        </p:nvSpPr>
        <p:spPr bwMode="auto">
          <a:xfrm>
            <a:off x="628650" y="475488"/>
            <a:ext cx="7886700" cy="5701475"/>
          </a:xfrm>
        </p:spPr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en-US"/>
              <a:t>Component Integration</a:t>
            </a:r>
            <a:endParaRPr/>
          </a:p>
          <a:p>
            <a:pPr>
              <a:defRPr/>
            </a:pPr>
            <a:r>
              <a:rPr lang="en-US"/>
              <a:t>Database Programming</a:t>
            </a:r>
            <a:endParaRPr/>
          </a:p>
          <a:p>
            <a:pPr>
              <a:defRPr/>
            </a:pPr>
            <a:r>
              <a:rPr lang="en-US"/>
              <a:t>Rapid Prototyping</a:t>
            </a:r>
            <a:endParaRPr/>
          </a:p>
          <a:p>
            <a:pPr>
              <a:defRPr/>
            </a:pPr>
            <a:r>
              <a:rPr lang="en-US"/>
              <a:t>Numeric &amp; Scientific Programming</a:t>
            </a:r>
            <a:endParaRPr/>
          </a:p>
          <a:p>
            <a:pPr>
              <a:defRPr/>
            </a:pPr>
            <a:r>
              <a:rPr lang="en-US"/>
              <a:t>Gaming, Images, Serial Ports, XML, Robots, and More</a:t>
            </a:r>
            <a:endParaRPr/>
          </a:p>
          <a:p>
            <a:pPr lvl="1">
              <a:defRPr/>
            </a:pPr>
            <a:r>
              <a:rPr lang="en-IN"/>
              <a:t>Game programming and multimedia in Python with the </a:t>
            </a:r>
            <a:r>
              <a:rPr lang="en-IN"/>
              <a:t>pygame</a:t>
            </a:r>
            <a:r>
              <a:rPr lang="en-IN"/>
              <a:t> system </a:t>
            </a:r>
            <a:endParaRPr/>
          </a:p>
          <a:p>
            <a:pPr lvl="1">
              <a:defRPr/>
            </a:pPr>
            <a:r>
              <a:rPr lang="en-IN"/>
              <a:t> Serial port communication on Windows, Linux, and more with the </a:t>
            </a:r>
            <a:r>
              <a:rPr lang="en-IN"/>
              <a:t>PySerial</a:t>
            </a:r>
            <a:r>
              <a:rPr lang="en-IN"/>
              <a:t> extension</a:t>
            </a:r>
            <a:endParaRPr lang="en-IN"/>
          </a:p>
          <a:p>
            <a:pPr lvl="1">
              <a:defRPr/>
            </a:pPr>
            <a:r>
              <a:rPr lang="en-IN"/>
              <a:t> Image processing with PIL, </a:t>
            </a:r>
            <a:r>
              <a:rPr lang="en-IN"/>
              <a:t>PyOpenGL</a:t>
            </a:r>
            <a:r>
              <a:rPr lang="en-IN"/>
              <a:t>, Blender, Maya, and others </a:t>
            </a:r>
            <a:endParaRPr/>
          </a:p>
          <a:p>
            <a:pPr lvl="1">
              <a:defRPr/>
            </a:pPr>
            <a:r>
              <a:rPr lang="en-IN"/>
              <a:t>Robot control programming with the </a:t>
            </a:r>
            <a:r>
              <a:rPr lang="en-IN"/>
              <a:t>PyRo</a:t>
            </a:r>
            <a:r>
              <a:rPr lang="en-IN"/>
              <a:t> toolkit</a:t>
            </a:r>
            <a:endParaRPr/>
          </a:p>
          <a:p>
            <a:pPr lvl="1">
              <a:defRPr/>
            </a:pPr>
            <a:r>
              <a:rPr lang="en-IN"/>
              <a:t>XML parsing with the xml library package, the </a:t>
            </a:r>
            <a:r>
              <a:rPr lang="en-IN"/>
              <a:t>xmlrpclib</a:t>
            </a:r>
            <a:r>
              <a:rPr lang="en-IN"/>
              <a:t> module, and third-party extensions </a:t>
            </a:r>
            <a:endParaRPr/>
          </a:p>
          <a:p>
            <a:pPr lvl="1">
              <a:defRPr/>
            </a:pPr>
            <a:r>
              <a:rPr lang="en-IN"/>
              <a:t>Artificial intelligence programming with neural network simulators and expert system shells </a:t>
            </a:r>
            <a:endParaRPr/>
          </a:p>
          <a:p>
            <a:pPr lvl="1">
              <a:defRPr/>
            </a:pPr>
            <a:r>
              <a:rPr lang="en-IN"/>
              <a:t>Natural language analysis with the NLTK package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9967760" name="Rectangle 3"/>
          <p:cNvSpPr/>
          <p:nvPr/>
        </p:nvSpPr>
        <p:spPr bwMode="auto">
          <a:xfrm>
            <a:off x="3292644" y="2967335"/>
            <a:ext cx="255871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>
              <a:defRPr/>
            </a:pPr>
            <a:r>
              <a:rPr lang="en-US" sz="5400" b="0" cap="none" spc="0">
                <a:ln w="0"/>
                <a:solidFill>
                  <a:schemeClr val="tx1"/>
                </a:solidFill>
              </a:rPr>
              <a:t>The End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ONLYOFFICE/9.4.0.129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 Ashwin Bhagat</dc:creator>
  <cp:lastModifiedBy/>
  <cp:revision>37</cp:revision>
  <dcterms:created xsi:type="dcterms:W3CDTF">2025-01-06T10:42:35Z</dcterms:created>
  <dcterms:modified xsi:type="dcterms:W3CDTF">2026-07-21T15:52:21Z</dcterms:modified>
</cp:coreProperties>
</file>