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9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1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8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5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4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1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E3C5738-6176-46AB-94D8-84E5034D001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1FAC5F2-CBE5-463D-ABD5-7753CDE2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6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0088-A8E3-3663-E068-827CD56EE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Communication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8AD49-0F55-8071-3F3D-BCC78D695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CSS SEM 1  Effective Listening </a:t>
            </a:r>
          </a:p>
        </p:txBody>
      </p:sp>
    </p:spTree>
    <p:extLst>
      <p:ext uri="{BB962C8B-B14F-4D97-AF65-F5344CB8AC3E}">
        <p14:creationId xmlns:p14="http://schemas.microsoft.com/office/powerpoint/2010/main" val="2606236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E763DE-E42E-B7D2-FAF2-92B1BE810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6872A1-C121-AE1E-D0B7-1A073CC29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90733"/>
              </p:ext>
            </p:extLst>
          </p:nvPr>
        </p:nvGraphicFramePr>
        <p:xfrm>
          <a:off x="173736" y="91440"/>
          <a:ext cx="12018264" cy="67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9132">
                  <a:extLst>
                    <a:ext uri="{9D8B030D-6E8A-4147-A177-3AD203B41FA5}">
                      <a16:colId xmlns:a16="http://schemas.microsoft.com/office/drawing/2014/main" val="1448807072"/>
                    </a:ext>
                  </a:extLst>
                </a:gridCol>
                <a:gridCol w="6009132">
                  <a:extLst>
                    <a:ext uri="{9D8B030D-6E8A-4147-A177-3AD203B41FA5}">
                      <a16:colId xmlns:a16="http://schemas.microsoft.com/office/drawing/2014/main" val="389242564"/>
                    </a:ext>
                  </a:extLst>
                </a:gridCol>
              </a:tblGrid>
              <a:tr h="5710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INTERNAL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EXTERNAL COMMUNICATION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69814"/>
                  </a:ext>
                </a:extLst>
              </a:tr>
              <a:tr h="985649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Bodoni MT Black" panose="02070A03080606020203" pitchFamily="18" charset="0"/>
                        </a:rPr>
                        <a:t>THE NERVOUS SYSTEM OF THE ORGANIZATION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Bodoni MT Black" panose="02070A03080606020203" pitchFamily="18" charset="0"/>
                        </a:rPr>
                        <a:t>TH    E PUBLIC FACE OF THE ORGANIZATION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27786"/>
                  </a:ext>
                </a:extLst>
              </a:tr>
              <a:tr h="140807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Participants : employees, teams, organizational hierarchal positions.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Participants: outside groups, customers, suppliers, vendors, investors, stakeholders, alumni, patrons etc.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95343"/>
                  </a:ext>
                </a:extLst>
              </a:tr>
              <a:tr h="1408070">
                <a:tc>
                  <a:txBody>
                    <a:bodyPr/>
                    <a:lstStyle/>
                    <a:p>
                      <a:r>
                        <a:rPr lang="en-US" b="1" dirty="0"/>
                        <a:t>Goal : align departments, navigate daily operations, solve problems, boost employees’ morales.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Goal: promote the brand, attract new customers, build reputation, share financial/ legal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52237"/>
                  </a:ext>
                </a:extLst>
              </a:tr>
              <a:tr h="985649">
                <a:tc>
                  <a:txBody>
                    <a:bodyPr/>
                    <a:lstStyle/>
                    <a:p>
                      <a:r>
                        <a:rPr lang="en-US" b="1" dirty="0"/>
                        <a:t>Tone: Direct, focused towards problem solving and suggestions.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Tone: polished, carefully crafted, presenting as favorable public image,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889999"/>
                  </a:ext>
                </a:extLst>
              </a:tr>
              <a:tr h="1408070">
                <a:tc>
                  <a:txBody>
                    <a:bodyPr/>
                    <a:lstStyle/>
                    <a:p>
                      <a:r>
                        <a:rPr lang="en-US" b="1" dirty="0"/>
                        <a:t>Channel: Intranet, organizations’ apps, emails, team meeting, notices, reports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Channel: social media, press release, public website, annual reports, advertisements.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72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3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C984-0B68-F14D-82D7-4D9D7862F0F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298575"/>
            <a:ext cx="7315200" cy="3254375"/>
          </a:xfrm>
        </p:spPr>
        <p:txBody>
          <a:bodyPr/>
          <a:lstStyle/>
          <a:p>
            <a:r>
              <a:rPr lang="en-US" dirty="0"/>
              <a:t>Internal and </a:t>
            </a:r>
            <a:r>
              <a:rPr lang="en-US" dirty="0" err="1"/>
              <a:t>Exteal</a:t>
            </a:r>
            <a:r>
              <a:rPr lang="en-US" dirty="0"/>
              <a:t> Communication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D9034-F043-E620-BFBB-C0F8BFE0C62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8F99B-61AB-89C0-996F-0B8105B3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0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68DE25-28AC-C806-2D8B-85FBEB88F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69428"/>
              </p:ext>
            </p:extLst>
          </p:nvPr>
        </p:nvGraphicFramePr>
        <p:xfrm>
          <a:off x="2032000" y="719666"/>
          <a:ext cx="8128000" cy="5598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535451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77403576"/>
                    </a:ext>
                  </a:extLst>
                </a:gridCol>
              </a:tblGrid>
              <a:tr h="707120">
                <a:tc>
                  <a:txBody>
                    <a:bodyPr/>
                    <a:lstStyle/>
                    <a:p>
                      <a:r>
                        <a:rPr lang="en-US" dirty="0"/>
                        <a:t>INTRAPERSONAL COMMUNICATION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INTERPERSONAL COMMUNICATION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06533"/>
                  </a:ext>
                </a:extLst>
              </a:tr>
              <a:tr h="1220508">
                <a:tc>
                  <a:txBody>
                    <a:bodyPr/>
                    <a:lstStyle/>
                    <a:p>
                      <a:r>
                        <a:rPr lang="en-US" dirty="0"/>
                        <a:t>Occurs within an individual’s mind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Exchange of messages, feelings, ideas between two individuals.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164976"/>
                  </a:ext>
                </a:extLst>
              </a:tr>
              <a:tr h="1220508">
                <a:tc>
                  <a:txBody>
                    <a:bodyPr/>
                    <a:lstStyle/>
                    <a:p>
                      <a:r>
                        <a:rPr lang="en-US" dirty="0"/>
                        <a:t>Self talk, meditation, internal dialogue, visualization, memory etc.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kind of communication between the two.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49545"/>
                  </a:ext>
                </a:extLst>
              </a:tr>
              <a:tr h="1743583">
                <a:tc>
                  <a:txBody>
                    <a:bodyPr/>
                    <a:lstStyle/>
                    <a:p>
                      <a:r>
                        <a:rPr lang="en-US" dirty="0"/>
                        <a:t>Self-reflection, problem solving, emotional regulation, problem solving, decision making, self-motivation, procrastination, self-realization, situation-analysis.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Building and strengthening the relationship. </a:t>
                      </a:r>
                    </a:p>
                    <a:p>
                      <a:r>
                        <a:rPr lang="en-US" dirty="0"/>
                        <a:t>Fostering trust, and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47366"/>
                  </a:ext>
                </a:extLst>
              </a:tr>
              <a:tr h="707120">
                <a:tc>
                  <a:txBody>
                    <a:bodyPr/>
                    <a:lstStyle/>
                    <a:p>
                      <a:r>
                        <a:rPr lang="en-US" dirty="0"/>
                        <a:t>Private, subjective and self-directed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079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82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074CE-05FF-E663-FD47-E7E998D7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0"/>
            <a:ext cx="1047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7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E5FEFD-9F50-2883-6477-97A82295D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094540"/>
              </p:ext>
            </p:extLst>
          </p:nvPr>
        </p:nvGraphicFramePr>
        <p:xfrm>
          <a:off x="2032000" y="719666"/>
          <a:ext cx="8128000" cy="54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62334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27110530"/>
                    </a:ext>
                  </a:extLst>
                </a:gridCol>
              </a:tblGrid>
              <a:tr h="758340">
                <a:tc>
                  <a:txBody>
                    <a:bodyPr/>
                    <a:lstStyle/>
                    <a:p>
                      <a:r>
                        <a:rPr lang="en-US" dirty="0"/>
                        <a:t>ORAL COMMUNICATION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WRITTEN COMMUNICATION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922986"/>
                  </a:ext>
                </a:extLst>
              </a:tr>
              <a:tr h="1308917">
                <a:tc>
                  <a:txBody>
                    <a:bodyPr/>
                    <a:lstStyle/>
                    <a:p>
                      <a:r>
                        <a:rPr lang="en-US" dirty="0"/>
                        <a:t>Natural and spontaneous act of communication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Trained act of communication.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31769"/>
                  </a:ext>
                </a:extLst>
              </a:tr>
              <a:tr h="758340">
                <a:tc>
                  <a:txBody>
                    <a:bodyPr/>
                    <a:lstStyle/>
                    <a:p>
                      <a:r>
                        <a:rPr lang="en-US" dirty="0"/>
                        <a:t>Time saving and economic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consuming and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143752"/>
                  </a:ext>
                </a:extLst>
              </a:tr>
              <a:tr h="758340">
                <a:tc>
                  <a:txBody>
                    <a:bodyPr/>
                    <a:lstStyle/>
                    <a:p>
                      <a:r>
                        <a:rPr lang="en-US" dirty="0"/>
                        <a:t>Effective for illiterate masses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Ineffective for illiterate masses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134783"/>
                  </a:ext>
                </a:extLst>
              </a:tr>
              <a:tr h="1905173">
                <a:tc>
                  <a:txBody>
                    <a:bodyPr/>
                    <a:lstStyle/>
                    <a:p>
                      <a:r>
                        <a:rPr lang="en-US" dirty="0"/>
                        <a:t>Flexible </a:t>
                      </a:r>
                    </a:p>
                    <a:p>
                      <a:r>
                        <a:rPr lang="en-US" dirty="0"/>
                        <a:t>Generates quicker response </a:t>
                      </a:r>
                    </a:p>
                    <a:p>
                      <a:r>
                        <a:rPr lang="en-US" dirty="0"/>
                        <a:t>Lacks evidence value</a:t>
                      </a:r>
                    </a:p>
                    <a:p>
                      <a:r>
                        <a:rPr lang="en-US" dirty="0"/>
                        <a:t>Futuristic value absent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flexible </a:t>
                      </a:r>
                    </a:p>
                    <a:p>
                      <a:r>
                        <a:rPr lang="en-US" dirty="0"/>
                        <a:t>No quick response possible </a:t>
                      </a:r>
                    </a:p>
                    <a:p>
                      <a:r>
                        <a:rPr lang="en-US" dirty="0"/>
                        <a:t>Can be preserved as evidences</a:t>
                      </a:r>
                    </a:p>
                    <a:p>
                      <a:r>
                        <a:rPr lang="en-US" dirty="0"/>
                        <a:t>Can be reviewed in future too.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83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7126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94</TotalTime>
  <Words>289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Bodoni MT Black</vt:lpstr>
      <vt:lpstr>Corbel</vt:lpstr>
      <vt:lpstr>Wingdings 2</vt:lpstr>
      <vt:lpstr>Frame</vt:lpstr>
      <vt:lpstr>Types of Communication </vt:lpstr>
      <vt:lpstr>PowerPoint Presentation</vt:lpstr>
      <vt:lpstr>PowerPoint Presentation</vt:lpstr>
      <vt:lpstr>Internal and Exteal Communication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 Mandlik</dc:creator>
  <cp:lastModifiedBy>Deepti Mandlik</cp:lastModifiedBy>
  <cp:revision>6</cp:revision>
  <dcterms:created xsi:type="dcterms:W3CDTF">2026-10-13T09:13:11Z</dcterms:created>
  <dcterms:modified xsi:type="dcterms:W3CDTF">2026-10-16T09:31:26Z</dcterms:modified>
</cp:coreProperties>
</file>