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28"/>
  </p:notesMasterIdLst>
  <p:sldIdLst>
    <p:sldId id="256" r:id="rId2"/>
    <p:sldId id="257" r:id="rId3"/>
    <p:sldId id="258" r:id="rId4"/>
    <p:sldId id="259" r:id="rId5"/>
    <p:sldId id="260" r:id="rId6"/>
    <p:sldId id="270" r:id="rId7"/>
    <p:sldId id="261" r:id="rId8"/>
    <p:sldId id="276" r:id="rId9"/>
    <p:sldId id="262" r:id="rId10"/>
    <p:sldId id="271" r:id="rId11"/>
    <p:sldId id="263" r:id="rId12"/>
    <p:sldId id="265" r:id="rId13"/>
    <p:sldId id="264" r:id="rId14"/>
    <p:sldId id="266" r:id="rId15"/>
    <p:sldId id="267" r:id="rId16"/>
    <p:sldId id="268" r:id="rId17"/>
    <p:sldId id="269" r:id="rId18"/>
    <p:sldId id="277" r:id="rId19"/>
    <p:sldId id="278" r:id="rId20"/>
    <p:sldId id="279" r:id="rId21"/>
    <p:sldId id="280" r:id="rId22"/>
    <p:sldId id="281" r:id="rId23"/>
    <p:sldId id="272" r:id="rId24"/>
    <p:sldId id="273" r:id="rId25"/>
    <p:sldId id="274" r:id="rId26"/>
    <p:sldId id="2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C39140-6172-4930-955D-D8EB8FD39264}" v="141" dt="2021-10-08T04:25:05.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EE2AD-93C2-4CF8-B8E8-94FB17030616}"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5F5D13-3899-4168-85EB-1EBF5F105D3F}" type="slidenum">
              <a:rPr lang="en-US" smtClean="0"/>
              <a:t>‹#›</a:t>
            </a:fld>
            <a:endParaRPr lang="en-US"/>
          </a:p>
        </p:txBody>
      </p:sp>
    </p:spTree>
    <p:extLst>
      <p:ext uri="{BB962C8B-B14F-4D97-AF65-F5344CB8AC3E}">
        <p14:creationId xmlns:p14="http://schemas.microsoft.com/office/powerpoint/2010/main" val="2039301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F5D13-3899-4168-85EB-1EBF5F105D3F}" type="slidenum">
              <a:rPr lang="en-US" smtClean="0"/>
              <a:t>7</a:t>
            </a:fld>
            <a:endParaRPr lang="en-US"/>
          </a:p>
        </p:txBody>
      </p:sp>
    </p:spTree>
    <p:extLst>
      <p:ext uri="{BB962C8B-B14F-4D97-AF65-F5344CB8AC3E}">
        <p14:creationId xmlns:p14="http://schemas.microsoft.com/office/powerpoint/2010/main" val="1862555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fld id="{72EA7947-E287-4738-8C82-07CE4F01EF03}" type="datetime2">
              <a:rPr lang="en-US" smtClean="0"/>
              <a:t>Saturday, October 10, 2026</a:t>
            </a:fld>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494259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fld id="{6FE8C025-CD7A-4966-867E-81CF82B15267}" type="datetime2">
              <a:rPr lang="en-US" smtClean="0"/>
              <a:t>Saturday, October 10, 2026</a:t>
            </a:fld>
            <a:endParaRPr lang="en-US"/>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890571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fld id="{FE809929-0719-4517-94D6-FDF7F99E70F6}" type="datetime2">
              <a:rPr lang="en-US" smtClean="0"/>
              <a:t>Saturday, October 10, 2026</a:t>
            </a:fld>
            <a:endParaRPr lang="en-US"/>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574932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fld id="{20E95673-5512-4AAA-9AEB-E00C61EC65D5}" type="datetime2">
              <a:rPr lang="en-US" smtClean="0"/>
              <a:t>Saturday, October 10, 2026</a:t>
            </a:fld>
            <a:endParaRPr lang="en-US"/>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441901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fld id="{C13138FA-2E87-4873-8BBA-13E447C9A99A}" type="datetime2">
              <a:rPr lang="en-US" smtClean="0"/>
              <a:t>Saturday, October 10, 2026</a:t>
            </a:fld>
            <a:endParaRPr lang="en-US"/>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r>
              <a:rPr lang="en-US"/>
              <a:t>Sample Footer</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991136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fld id="{D75BB40A-97BD-4BFB-B639-0BFF95FDE8B7}" type="datetime2">
              <a:rPr lang="en-US" smtClean="0"/>
              <a:t>Saturday, October 10, 2026</a:t>
            </a:fld>
            <a:endParaRPr lang="en-US"/>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r>
              <a:rPr lang="en-US"/>
              <a:t>Sample Footer</a:t>
            </a:r>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39495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fld id="{9EE9E0E3-ECF6-4CFE-8698-AEFEBCECC3C0}" type="datetime2">
              <a:rPr lang="en-US" smtClean="0"/>
              <a:t>Saturday, October 10, 2026</a:t>
            </a:fld>
            <a:endParaRPr lang="en-US"/>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r>
              <a:rPr lang="en-US"/>
              <a:t>Sample Footer</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771377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fld id="{251462FC-960E-4740-921F-B36862979F21}" type="datetime2">
              <a:rPr lang="en-US" smtClean="0"/>
              <a:t>Saturday, October 10, 2026</a:t>
            </a:fld>
            <a:endParaRPr lang="en-US"/>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58309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fld id="{E50BC9E2-CB44-4C05-9BB5-496C18A241E0}" type="datetime2">
              <a:rPr lang="en-US" smtClean="0"/>
              <a:t>Saturday, October 10, 2026</a:t>
            </a:fld>
            <a:endParaRPr lang="en-US"/>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760860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fld id="{EE2EBD84-71F4-4271-8C46-0D47C0A9B12E}" type="datetime2">
              <a:rPr lang="en-US" smtClean="0"/>
              <a:t>Saturday, October 10, 2026</a:t>
            </a:fld>
            <a:endParaRPr lang="en-US"/>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321645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fld id="{ABAE0CE1-F450-4107-B2CB-17B18F8A3F4A}" type="datetime2">
              <a:rPr lang="en-US" smtClean="0"/>
              <a:t>Saturday, October 10, 2026</a:t>
            </a:fld>
            <a:endParaRPr lang="en-US"/>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62121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fld id="{246CB39B-5F4C-4A7E-9BE3-AAFD45576D16}" type="datetime2">
              <a:rPr lang="en-US" smtClean="0"/>
              <a:t>Saturday, October 10, 2026</a:t>
            </a:fld>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r>
              <a:rPr lang="en-US"/>
              <a:t>Sample Footer</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900">
                <a:solidFill>
                  <a:schemeClr val="tx1">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1240885097"/>
      </p:ext>
    </p:extLst>
  </p:cSld>
  <p:clrMap bg1="dk1" tx1="lt1" bg2="dk2" tx2="lt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54" r:id="rId6"/>
    <p:sldLayoutId id="2147483750" r:id="rId7"/>
    <p:sldLayoutId id="2147483751" r:id="rId8"/>
    <p:sldLayoutId id="2147483752" r:id="rId9"/>
    <p:sldLayoutId id="2147483753" r:id="rId10"/>
    <p:sldLayoutId id="2147483755" r:id="rId11"/>
  </p:sldLayoutIdLst>
  <p:hf sldNum="0" hdr="0" ft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businesstopia.net/mass-communication/gatekeeping-theor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communicationtheory.org/westley-and-macleans-model-of-communicatio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toolshero.com/communication-skills/berlos-smcr-model-of-communication/" TargetMode="External"/><Relationship Id="rId2" Type="http://schemas.openxmlformats.org/officeDocument/2006/relationships/hyperlink" Target="https://www.toolshero.com/communication-skills/aristotle-model-of-communication/"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8" name="Rectangle 58">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659BAF-C74F-4BAC-B47D-4FD136E18687}"/>
              </a:ext>
            </a:extLst>
          </p:cNvPr>
          <p:cNvSpPr>
            <a:spLocks noGrp="1"/>
          </p:cNvSpPr>
          <p:nvPr>
            <p:ph type="ctrTitle"/>
          </p:nvPr>
        </p:nvSpPr>
        <p:spPr>
          <a:xfrm>
            <a:off x="550864" y="1051551"/>
            <a:ext cx="3565524" cy="2384898"/>
          </a:xfrm>
        </p:spPr>
        <p:txBody>
          <a:bodyPr anchor="b">
            <a:normAutofit/>
          </a:bodyPr>
          <a:lstStyle/>
          <a:p>
            <a:r>
              <a:rPr lang="en-US" sz="4100" dirty="0"/>
              <a:t>Models of communication </a:t>
            </a:r>
          </a:p>
        </p:txBody>
      </p:sp>
      <p:sp>
        <p:nvSpPr>
          <p:cNvPr id="3" name="Subtitle 2">
            <a:extLst>
              <a:ext uri="{FF2B5EF4-FFF2-40B4-BE49-F238E27FC236}">
                <a16:creationId xmlns:a16="http://schemas.microsoft.com/office/drawing/2014/main" id="{520E405C-8B23-4D9C-B633-70FD9D9FF377}"/>
              </a:ext>
            </a:extLst>
          </p:cNvPr>
          <p:cNvSpPr>
            <a:spLocks noGrp="1"/>
          </p:cNvSpPr>
          <p:nvPr>
            <p:ph type="subTitle" idx="1"/>
          </p:nvPr>
        </p:nvSpPr>
        <p:spPr>
          <a:xfrm>
            <a:off x="550863" y="3569008"/>
            <a:ext cx="3565525" cy="1731656"/>
          </a:xfrm>
        </p:spPr>
        <p:txBody>
          <a:bodyPr>
            <a:normAutofit/>
          </a:bodyPr>
          <a:lstStyle/>
          <a:p>
            <a:r>
              <a:rPr lang="en-US" sz="2000" b="1">
                <a:solidFill>
                  <a:schemeClr val="tx1">
                    <a:alpha val="60000"/>
                  </a:schemeClr>
                </a:solidFill>
              </a:rPr>
              <a:t>PG, SEM 1, CSS</a:t>
            </a:r>
          </a:p>
        </p:txBody>
      </p:sp>
      <p:grpSp>
        <p:nvGrpSpPr>
          <p:cNvPr id="69" name="Group 60">
            <a:extLst>
              <a:ext uri="{FF2B5EF4-FFF2-40B4-BE49-F238E27FC236}">
                <a16:creationId xmlns:a16="http://schemas.microsoft.com/office/drawing/2014/main" id="{4592A8CB-0B0A-43A5-86F4-712B0C4696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41850" y="444676"/>
            <a:ext cx="667802" cy="631474"/>
            <a:chOff x="10478914" y="1506691"/>
            <a:chExt cx="667802" cy="631474"/>
          </a:xfrm>
        </p:grpSpPr>
        <p:sp>
          <p:nvSpPr>
            <p:cNvPr id="62" name="Freeform: Shape 61">
              <a:extLst>
                <a:ext uri="{FF2B5EF4-FFF2-40B4-BE49-F238E27FC236}">
                  <a16:creationId xmlns:a16="http://schemas.microsoft.com/office/drawing/2014/main" id="{4C63B2AC-3D19-416D-A37F-2DDA8A3651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 name="Oval 62">
              <a:extLst>
                <a:ext uri="{FF2B5EF4-FFF2-40B4-BE49-F238E27FC236}">
                  <a16:creationId xmlns:a16="http://schemas.microsoft.com/office/drawing/2014/main" id="{8A474391-1271-45F9-A39C-8641371AB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4" name="Picture 3" descr="3D box skeletons">
            <a:extLst>
              <a:ext uri="{FF2B5EF4-FFF2-40B4-BE49-F238E27FC236}">
                <a16:creationId xmlns:a16="http://schemas.microsoft.com/office/drawing/2014/main" id="{3CB3EEB0-547B-45E3-8DF3-1470F5A8701E}"/>
              </a:ext>
            </a:extLst>
          </p:cNvPr>
          <p:cNvPicPr>
            <a:picLocks noChangeAspect="1"/>
          </p:cNvPicPr>
          <p:nvPr/>
        </p:nvPicPr>
        <p:blipFill rotWithShape="1">
          <a:blip r:embed="rId2"/>
          <a:srcRect l="13751" r="13750" b="-1"/>
          <a:stretch/>
        </p:blipFill>
        <p:spPr>
          <a:xfrm>
            <a:off x="4743450" y="10"/>
            <a:ext cx="7448551" cy="6857990"/>
          </a:xfrm>
          <a:custGeom>
            <a:avLst/>
            <a:gdLst/>
            <a:ahLst/>
            <a:cxnLst/>
            <a:rect l="l" t="t" r="r" b="b"/>
            <a:pathLst>
              <a:path w="7448551" h="6858000">
                <a:moveTo>
                  <a:pt x="0" y="0"/>
                </a:moveTo>
                <a:lnTo>
                  <a:pt x="7448551" y="0"/>
                </a:lnTo>
                <a:lnTo>
                  <a:pt x="7448551" y="6858000"/>
                </a:lnTo>
                <a:lnTo>
                  <a:pt x="0" y="6858000"/>
                </a:lnTo>
                <a:close/>
              </a:path>
            </a:pathLst>
          </a:custGeom>
        </p:spPr>
      </p:pic>
      <p:sp>
        <p:nvSpPr>
          <p:cNvPr id="71" name="Rectangle 64">
            <a:extLst>
              <a:ext uri="{FF2B5EF4-FFF2-40B4-BE49-F238E27FC236}">
                <a16:creationId xmlns:a16="http://schemas.microsoft.com/office/drawing/2014/main" id="{41AC6C06-99FE-4BA1-BC82-8406A424C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7AEC842D-C905-4DEA-B1C3-CA51995C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1219" y="543322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50353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18F6B-5BCA-44BD-9658-CE9C072D9D52}"/>
              </a:ext>
            </a:extLst>
          </p:cNvPr>
          <p:cNvSpPr>
            <a:spLocks noGrp="1"/>
          </p:cNvSpPr>
          <p:nvPr>
            <p:ph type="title"/>
          </p:nvPr>
        </p:nvSpPr>
        <p:spPr/>
        <p:txBody>
          <a:bodyPr/>
          <a:lstStyle/>
          <a:p>
            <a:r>
              <a:rPr lang="en-US" dirty="0">
                <a:solidFill>
                  <a:schemeClr val="bg1"/>
                </a:solidFill>
              </a:rPr>
              <a:t>Models of Communication </a:t>
            </a:r>
          </a:p>
        </p:txBody>
      </p:sp>
      <p:sp>
        <p:nvSpPr>
          <p:cNvPr id="3" name="Content Placeholder 2">
            <a:extLst>
              <a:ext uri="{FF2B5EF4-FFF2-40B4-BE49-F238E27FC236}">
                <a16:creationId xmlns:a16="http://schemas.microsoft.com/office/drawing/2014/main" id="{E324734E-1A8D-4412-8715-8ADA8D5108D2}"/>
              </a:ext>
            </a:extLst>
          </p:cNvPr>
          <p:cNvSpPr>
            <a:spLocks noGrp="1"/>
          </p:cNvSpPr>
          <p:nvPr>
            <p:ph idx="1"/>
          </p:nvPr>
        </p:nvSpPr>
        <p:spPr/>
        <p:txBody>
          <a:bodyPr/>
          <a:lstStyle/>
          <a:p>
            <a:pPr marL="0" indent="0">
              <a:buNone/>
            </a:pPr>
            <a:r>
              <a:rPr lang="en-US" dirty="0">
                <a:solidFill>
                  <a:schemeClr val="bg1"/>
                </a:solidFill>
              </a:rPr>
              <a:t>With the passage of time, several theorists developed communication models in attempts to </a:t>
            </a:r>
          </a:p>
          <a:p>
            <a:r>
              <a:rPr lang="en-US" dirty="0">
                <a:solidFill>
                  <a:schemeClr val="bg1"/>
                </a:solidFill>
              </a:rPr>
              <a:t>1. explain the communication process.</a:t>
            </a:r>
          </a:p>
          <a:p>
            <a:r>
              <a:rPr lang="en-US" dirty="0">
                <a:solidFill>
                  <a:schemeClr val="bg1">
                    <a:alpha val="60000"/>
                  </a:schemeClr>
                </a:solidFill>
              </a:rPr>
              <a:t>2. understand how to improve communication and rhetoric.</a:t>
            </a:r>
          </a:p>
          <a:p>
            <a:endParaRPr lang="en-US" dirty="0"/>
          </a:p>
        </p:txBody>
      </p:sp>
    </p:spTree>
    <p:extLst>
      <p:ext uri="{BB962C8B-B14F-4D97-AF65-F5344CB8AC3E}">
        <p14:creationId xmlns:p14="http://schemas.microsoft.com/office/powerpoint/2010/main" val="1064328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5E4FA-074A-4123-8473-B8111D811882}"/>
              </a:ext>
            </a:extLst>
          </p:cNvPr>
          <p:cNvSpPr>
            <a:spLocks noGrp="1"/>
          </p:cNvSpPr>
          <p:nvPr>
            <p:ph type="title"/>
          </p:nvPr>
        </p:nvSpPr>
        <p:spPr/>
        <p:txBody>
          <a:bodyPr/>
          <a:lstStyle/>
          <a:p>
            <a:r>
              <a:rPr lang="en-US" dirty="0">
                <a:solidFill>
                  <a:schemeClr val="bg1"/>
                </a:solidFill>
              </a:rPr>
              <a:t>Models of Communication </a:t>
            </a:r>
          </a:p>
        </p:txBody>
      </p:sp>
      <p:sp>
        <p:nvSpPr>
          <p:cNvPr id="3" name="Content Placeholder 2">
            <a:extLst>
              <a:ext uri="{FF2B5EF4-FFF2-40B4-BE49-F238E27FC236}">
                <a16:creationId xmlns:a16="http://schemas.microsoft.com/office/drawing/2014/main" id="{BDDDC5B7-5F57-4CBE-BC85-40F8082B2E71}"/>
              </a:ext>
            </a:extLst>
          </p:cNvPr>
          <p:cNvSpPr>
            <a:spLocks noGrp="1"/>
          </p:cNvSpPr>
          <p:nvPr>
            <p:ph idx="1"/>
          </p:nvPr>
        </p:nvSpPr>
        <p:spPr/>
        <p:txBody>
          <a:bodyPr>
            <a:noAutofit/>
          </a:bodyPr>
          <a:lstStyle/>
          <a:p>
            <a:r>
              <a:rPr lang="en-US" sz="3600" dirty="0">
                <a:solidFill>
                  <a:schemeClr val="bg1">
                    <a:alpha val="60000"/>
                  </a:schemeClr>
                </a:solidFill>
              </a:rPr>
              <a:t>Broader division of modules of communication.</a:t>
            </a:r>
          </a:p>
          <a:p>
            <a:r>
              <a:rPr lang="en-US" sz="3600" dirty="0">
                <a:solidFill>
                  <a:schemeClr val="bg1">
                    <a:alpha val="60000"/>
                  </a:schemeClr>
                </a:solidFill>
              </a:rPr>
              <a:t>1.</a:t>
            </a:r>
            <a:r>
              <a:rPr lang="en-US" sz="3600" b="1" dirty="0">
                <a:solidFill>
                  <a:schemeClr val="bg1">
                    <a:alpha val="60000"/>
                  </a:schemeClr>
                </a:solidFill>
              </a:rPr>
              <a:t> Linear Model:  </a:t>
            </a:r>
            <a:r>
              <a:rPr lang="en-US" sz="3600" dirty="0">
                <a:solidFill>
                  <a:schemeClr val="bg1">
                    <a:alpha val="60000"/>
                  </a:schemeClr>
                </a:solidFill>
              </a:rPr>
              <a:t>focus on one-way communication. </a:t>
            </a:r>
          </a:p>
          <a:p>
            <a:r>
              <a:rPr lang="en-US" sz="3600" dirty="0">
                <a:solidFill>
                  <a:schemeClr val="bg1">
                    <a:alpha val="60000"/>
                  </a:schemeClr>
                </a:solidFill>
              </a:rPr>
              <a:t>2. </a:t>
            </a:r>
            <a:r>
              <a:rPr lang="en-US" sz="3600" b="1" dirty="0">
                <a:solidFill>
                  <a:schemeClr val="bg1">
                    <a:alpha val="60000"/>
                  </a:schemeClr>
                </a:solidFill>
              </a:rPr>
              <a:t>Interactional Model</a:t>
            </a:r>
            <a:r>
              <a:rPr lang="en-US" sz="3600" dirty="0">
                <a:solidFill>
                  <a:schemeClr val="bg1">
                    <a:alpha val="60000"/>
                  </a:schemeClr>
                </a:solidFill>
              </a:rPr>
              <a:t>: focus on two-way communication. </a:t>
            </a:r>
          </a:p>
          <a:p>
            <a:r>
              <a:rPr lang="en-US" sz="3600" dirty="0">
                <a:solidFill>
                  <a:schemeClr val="bg1">
                    <a:alpha val="60000"/>
                  </a:schemeClr>
                </a:solidFill>
              </a:rPr>
              <a:t>3.</a:t>
            </a:r>
            <a:r>
              <a:rPr lang="en-US" sz="3600" b="1" dirty="0">
                <a:solidFill>
                  <a:schemeClr val="bg1">
                    <a:alpha val="60000"/>
                  </a:schemeClr>
                </a:solidFill>
              </a:rPr>
              <a:t> Transactional Model:</a:t>
            </a:r>
            <a:r>
              <a:rPr lang="en-US" sz="3600" dirty="0">
                <a:solidFill>
                  <a:schemeClr val="bg1">
                    <a:alpha val="60000"/>
                  </a:schemeClr>
                </a:solidFill>
              </a:rPr>
              <a:t> focus on two-way communication where message gets more complex as the communication event progresses.</a:t>
            </a:r>
          </a:p>
          <a:p>
            <a:endParaRPr lang="en-US" sz="3600" dirty="0"/>
          </a:p>
        </p:txBody>
      </p:sp>
    </p:spTree>
    <p:extLst>
      <p:ext uri="{BB962C8B-B14F-4D97-AF65-F5344CB8AC3E}">
        <p14:creationId xmlns:p14="http://schemas.microsoft.com/office/powerpoint/2010/main" val="3209986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90418-7B5D-4863-B96B-D7060C79D6FA}"/>
              </a:ext>
            </a:extLst>
          </p:cNvPr>
          <p:cNvSpPr>
            <a:spLocks noGrp="1"/>
          </p:cNvSpPr>
          <p:nvPr>
            <p:ph type="title"/>
          </p:nvPr>
        </p:nvSpPr>
        <p:spPr/>
        <p:txBody>
          <a:bodyPr>
            <a:normAutofit fontScale="90000"/>
          </a:bodyPr>
          <a:lstStyle/>
          <a:p>
            <a:pPr algn="ctr"/>
            <a:r>
              <a:rPr lang="en-US" dirty="0">
                <a:solidFill>
                  <a:schemeClr val="bg1"/>
                </a:solidFill>
              </a:rPr>
              <a:t>Models of Communication </a:t>
            </a:r>
            <a:br>
              <a:rPr lang="en-US" dirty="0">
                <a:solidFill>
                  <a:schemeClr val="bg1"/>
                </a:solidFill>
              </a:rPr>
            </a:br>
            <a:r>
              <a:rPr lang="en-US" sz="2200" i="1" dirty="0">
                <a:solidFill>
                  <a:schemeClr val="bg1"/>
                </a:solidFill>
              </a:rPr>
              <a:t>Based on the fundamental models of communication, there were developed some more models of communication, like </a:t>
            </a:r>
            <a:br>
              <a:rPr lang="en-US" sz="2200" i="1" dirty="0"/>
            </a:br>
            <a:endParaRPr lang="en-US" sz="2200" i="1" dirty="0"/>
          </a:p>
        </p:txBody>
      </p:sp>
      <p:sp>
        <p:nvSpPr>
          <p:cNvPr id="3" name="Content Placeholder 2">
            <a:extLst>
              <a:ext uri="{FF2B5EF4-FFF2-40B4-BE49-F238E27FC236}">
                <a16:creationId xmlns:a16="http://schemas.microsoft.com/office/drawing/2014/main" id="{8B2DFB14-BEB6-449C-8E72-8B3B2C6FBDC0}"/>
              </a:ext>
            </a:extLst>
          </p:cNvPr>
          <p:cNvSpPr>
            <a:spLocks noGrp="1"/>
          </p:cNvSpPr>
          <p:nvPr>
            <p:ph idx="1"/>
          </p:nvPr>
        </p:nvSpPr>
        <p:spPr>
          <a:xfrm>
            <a:off x="549538" y="1881275"/>
            <a:ext cx="11090274" cy="3979625"/>
          </a:xfrm>
        </p:spPr>
        <p:txBody>
          <a:bodyPr numCol="1">
            <a:normAutofit fontScale="92500" lnSpcReduction="10000"/>
          </a:bodyPr>
          <a:lstStyle/>
          <a:p>
            <a:r>
              <a:rPr lang="en-US" dirty="0">
                <a:solidFill>
                  <a:schemeClr val="bg1">
                    <a:alpha val="60000"/>
                  </a:schemeClr>
                </a:solidFill>
              </a:rPr>
              <a:t>Aristotle’s  Model. 			                                </a:t>
            </a:r>
          </a:p>
          <a:p>
            <a:r>
              <a:rPr lang="en-US" dirty="0">
                <a:solidFill>
                  <a:schemeClr val="bg1">
                    <a:alpha val="60000"/>
                  </a:schemeClr>
                </a:solidFill>
              </a:rPr>
              <a:t>Lasswell Model.</a:t>
            </a:r>
          </a:p>
          <a:p>
            <a:r>
              <a:rPr lang="en-US" dirty="0">
                <a:solidFill>
                  <a:schemeClr val="bg1">
                    <a:alpha val="60000"/>
                  </a:schemeClr>
                </a:solidFill>
              </a:rPr>
              <a:t>Shannon –Weaver Model.</a:t>
            </a:r>
          </a:p>
          <a:p>
            <a:r>
              <a:rPr lang="en-US" dirty="0">
                <a:solidFill>
                  <a:schemeClr val="bg1">
                    <a:alpha val="60000"/>
                  </a:schemeClr>
                </a:solidFill>
              </a:rPr>
              <a:t>Berlo’s S-M-C-R Model.</a:t>
            </a:r>
          </a:p>
          <a:p>
            <a:r>
              <a:rPr lang="en-US" dirty="0">
                <a:solidFill>
                  <a:schemeClr val="bg1">
                    <a:alpha val="60000"/>
                  </a:schemeClr>
                </a:solidFill>
              </a:rPr>
              <a:t>Osgood –Schramm Model.</a:t>
            </a:r>
          </a:p>
          <a:p>
            <a:r>
              <a:rPr lang="en-US" dirty="0">
                <a:solidFill>
                  <a:schemeClr val="bg1">
                    <a:alpha val="60000"/>
                  </a:schemeClr>
                </a:solidFill>
              </a:rPr>
              <a:t>Westley and Maclean Model of Communication. </a:t>
            </a:r>
          </a:p>
          <a:p>
            <a:r>
              <a:rPr lang="en-US" dirty="0">
                <a:solidFill>
                  <a:schemeClr val="bg1">
                    <a:alpha val="60000"/>
                  </a:schemeClr>
                </a:solidFill>
              </a:rPr>
              <a:t>Barland’s Transactional Model of Communication. </a:t>
            </a:r>
          </a:p>
          <a:p>
            <a:r>
              <a:rPr lang="en-US" dirty="0">
                <a:solidFill>
                  <a:schemeClr val="bg1">
                    <a:alpha val="60000"/>
                  </a:schemeClr>
                </a:solidFill>
              </a:rPr>
              <a:t>Dance’s Helical Model of Communication. </a:t>
            </a:r>
          </a:p>
        </p:txBody>
      </p:sp>
    </p:spTree>
    <p:extLst>
      <p:ext uri="{BB962C8B-B14F-4D97-AF65-F5344CB8AC3E}">
        <p14:creationId xmlns:p14="http://schemas.microsoft.com/office/powerpoint/2010/main" val="1449707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A1287-0277-4D68-B92E-4982A6F618C3}"/>
              </a:ext>
            </a:extLst>
          </p:cNvPr>
          <p:cNvSpPr>
            <a:spLocks noGrp="1"/>
          </p:cNvSpPr>
          <p:nvPr>
            <p:ph type="title"/>
          </p:nvPr>
        </p:nvSpPr>
        <p:spPr>
          <a:xfrm>
            <a:off x="360314" y="549275"/>
            <a:ext cx="11709765" cy="1332000"/>
          </a:xfrm>
        </p:spPr>
        <p:txBody>
          <a:bodyPr>
            <a:normAutofit/>
          </a:bodyPr>
          <a:lstStyle/>
          <a:p>
            <a:r>
              <a:rPr lang="en-US" dirty="0">
                <a:solidFill>
                  <a:schemeClr val="bg1"/>
                </a:solidFill>
              </a:rPr>
              <a:t>Models of Communication: Aristotle’s Model </a:t>
            </a:r>
          </a:p>
        </p:txBody>
      </p:sp>
      <p:sp>
        <p:nvSpPr>
          <p:cNvPr id="3" name="Content Placeholder 2">
            <a:extLst>
              <a:ext uri="{FF2B5EF4-FFF2-40B4-BE49-F238E27FC236}">
                <a16:creationId xmlns:a16="http://schemas.microsoft.com/office/drawing/2014/main" id="{3236A263-DE28-4758-AF44-2EF48D578B31}"/>
              </a:ext>
            </a:extLst>
          </p:cNvPr>
          <p:cNvSpPr>
            <a:spLocks noGrp="1"/>
          </p:cNvSpPr>
          <p:nvPr>
            <p:ph idx="1"/>
          </p:nvPr>
        </p:nvSpPr>
        <p:spPr>
          <a:xfrm>
            <a:off x="360315" y="1439187"/>
            <a:ext cx="11090274" cy="3979625"/>
          </a:xfrm>
        </p:spPr>
        <p:txBody>
          <a:bodyPr>
            <a:normAutofit lnSpcReduction="10000"/>
          </a:bodyPr>
          <a:lstStyle/>
          <a:p>
            <a:pPr marL="0" indent="0">
              <a:buNone/>
            </a:pPr>
            <a:r>
              <a:rPr lang="en-US" dirty="0">
                <a:solidFill>
                  <a:schemeClr val="bg1">
                    <a:alpha val="60000"/>
                  </a:schemeClr>
                </a:solidFill>
              </a:rPr>
              <a:t>Aristotle’s Model of Communication: Linear Model of Communication</a:t>
            </a:r>
          </a:p>
          <a:p>
            <a:pPr marL="0" indent="0">
              <a:buNone/>
            </a:pPr>
            <a:r>
              <a:rPr lang="en-US" dirty="0">
                <a:solidFill>
                  <a:schemeClr val="bg1">
                    <a:alpha val="60000"/>
                  </a:schemeClr>
                </a:solidFill>
              </a:rPr>
              <a:t>Aristotle: ( 384-322 BC) a Greek philosopher and polymath of ancient Greece. </a:t>
            </a:r>
          </a:p>
          <a:p>
            <a:pPr marL="0" indent="0">
              <a:buNone/>
            </a:pPr>
            <a:r>
              <a:rPr lang="en-US" dirty="0">
                <a:solidFill>
                  <a:schemeClr val="bg1">
                    <a:alpha val="60000"/>
                  </a:schemeClr>
                </a:solidFill>
              </a:rPr>
              <a:t>The oldest model of communication aims at how to become a better and more convincing orator/ communicator.</a:t>
            </a:r>
          </a:p>
          <a:p>
            <a:pPr marL="0" indent="0">
              <a:buNone/>
            </a:pPr>
            <a:r>
              <a:rPr lang="en-US" dirty="0">
                <a:solidFill>
                  <a:schemeClr val="bg1">
                    <a:alpha val="60000"/>
                  </a:schemeClr>
                </a:solidFill>
              </a:rPr>
              <a:t>It takes into account- SPEAKER, SPEECH, OCCASION, TARGET AUDIENCE, and EFFECT.</a:t>
            </a:r>
          </a:p>
          <a:p>
            <a:pPr marL="0" indent="0">
              <a:buNone/>
            </a:pPr>
            <a:r>
              <a:rPr lang="en-US" dirty="0">
                <a:solidFill>
                  <a:schemeClr val="bg1">
                    <a:alpha val="60000"/>
                  </a:schemeClr>
                </a:solidFill>
              </a:rPr>
              <a:t>It considers three elements that improve communication- Ethos, Pathos, and Logos .</a:t>
            </a:r>
          </a:p>
          <a:p>
            <a:pPr marL="0" indent="0">
              <a:buNone/>
            </a:pPr>
            <a:r>
              <a:rPr lang="en-US" dirty="0">
                <a:solidFill>
                  <a:schemeClr val="bg1">
                    <a:alpha val="60000"/>
                  </a:schemeClr>
                </a:solidFill>
              </a:rPr>
              <a:t>( Ethos= credible , Pathos= ability to connect, Logos= logical arguments) </a:t>
            </a:r>
          </a:p>
          <a:p>
            <a:pPr marL="0" indent="0">
              <a:buNone/>
            </a:pPr>
            <a:r>
              <a:rPr lang="en-US" i="1" dirty="0">
                <a:solidFill>
                  <a:schemeClr val="bg1">
                    <a:alpha val="60000"/>
                  </a:schemeClr>
                </a:solidFill>
              </a:rPr>
              <a:t>No attention to feedback </a:t>
            </a:r>
          </a:p>
          <a:p>
            <a:pPr marL="0" indent="0">
              <a:buNone/>
            </a:pPr>
            <a:endParaRPr lang="en-US" dirty="0"/>
          </a:p>
        </p:txBody>
      </p:sp>
    </p:spTree>
    <p:extLst>
      <p:ext uri="{BB962C8B-B14F-4D97-AF65-F5344CB8AC3E}">
        <p14:creationId xmlns:p14="http://schemas.microsoft.com/office/powerpoint/2010/main" val="115151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6A3AC-34C1-4EED-89F0-04909FC13668}"/>
              </a:ext>
            </a:extLst>
          </p:cNvPr>
          <p:cNvSpPr>
            <a:spLocks noGrp="1"/>
          </p:cNvSpPr>
          <p:nvPr>
            <p:ph type="title"/>
          </p:nvPr>
        </p:nvSpPr>
        <p:spPr/>
        <p:txBody>
          <a:bodyPr/>
          <a:lstStyle/>
          <a:p>
            <a:r>
              <a:rPr lang="en-US" dirty="0">
                <a:solidFill>
                  <a:schemeClr val="bg1"/>
                </a:solidFill>
              </a:rPr>
              <a:t>Aristotle and Communication:</a:t>
            </a:r>
          </a:p>
        </p:txBody>
      </p:sp>
      <p:pic>
        <p:nvPicPr>
          <p:cNvPr id="5122" name="Picture 2" descr="Communication models, from Aristotle to White - HR Trend Institute">
            <a:extLst>
              <a:ext uri="{FF2B5EF4-FFF2-40B4-BE49-F238E27FC236}">
                <a16:creationId xmlns:a16="http://schemas.microsoft.com/office/drawing/2014/main" id="{3B163A3D-D223-41A7-A90A-0A4D772F29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3158" y="2348876"/>
            <a:ext cx="9240253" cy="2945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695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E735F-C93E-48E4-ADD7-F3D374776522}"/>
              </a:ext>
            </a:extLst>
          </p:cNvPr>
          <p:cNvSpPr>
            <a:spLocks noGrp="1"/>
          </p:cNvSpPr>
          <p:nvPr>
            <p:ph type="title"/>
          </p:nvPr>
        </p:nvSpPr>
        <p:spPr>
          <a:xfrm>
            <a:off x="346326" y="236454"/>
            <a:ext cx="11091600" cy="714041"/>
          </a:xfrm>
        </p:spPr>
        <p:txBody>
          <a:bodyPr>
            <a:normAutofit fontScale="90000"/>
          </a:bodyPr>
          <a:lstStyle/>
          <a:p>
            <a:r>
              <a:rPr lang="en-US" dirty="0">
                <a:solidFill>
                  <a:schemeClr val="bg1"/>
                </a:solidFill>
              </a:rPr>
              <a:t>Models of Communication: Laswell Model </a:t>
            </a:r>
          </a:p>
        </p:txBody>
      </p:sp>
      <p:sp>
        <p:nvSpPr>
          <p:cNvPr id="5" name="Content Placeholder 4">
            <a:extLst>
              <a:ext uri="{FF2B5EF4-FFF2-40B4-BE49-F238E27FC236}">
                <a16:creationId xmlns:a16="http://schemas.microsoft.com/office/drawing/2014/main" id="{F3AC829D-7C5B-4A8A-8FDD-78B3F9CED993}"/>
              </a:ext>
            </a:extLst>
          </p:cNvPr>
          <p:cNvSpPr>
            <a:spLocks noGrp="1"/>
          </p:cNvSpPr>
          <p:nvPr>
            <p:ph idx="1"/>
          </p:nvPr>
        </p:nvSpPr>
        <p:spPr>
          <a:xfrm>
            <a:off x="346326" y="1173991"/>
            <a:ext cx="11090274" cy="3979625"/>
          </a:xfrm>
        </p:spPr>
        <p:txBody>
          <a:bodyPr/>
          <a:lstStyle/>
          <a:p>
            <a:endParaRPr lang="en-US" dirty="0">
              <a:solidFill>
                <a:schemeClr val="bg1">
                  <a:alpha val="60000"/>
                </a:schemeClr>
              </a:solidFill>
            </a:endParaRPr>
          </a:p>
          <a:p>
            <a:r>
              <a:rPr lang="en-US" dirty="0">
                <a:solidFill>
                  <a:schemeClr val="bg1">
                    <a:alpha val="60000"/>
                  </a:schemeClr>
                </a:solidFill>
              </a:rPr>
              <a:t>Harold Dwight Lasswell , an American Political Scientist proposed the Lasswell Model of Communication. </a:t>
            </a:r>
          </a:p>
          <a:p>
            <a:r>
              <a:rPr lang="en-US" dirty="0">
                <a:solidFill>
                  <a:schemeClr val="bg1">
                    <a:alpha val="60000"/>
                  </a:schemeClr>
                </a:solidFill>
              </a:rPr>
              <a:t>Lasswell Model of Communication: a linear model of communication that analyzes one-way communication. </a:t>
            </a:r>
          </a:p>
          <a:p>
            <a:r>
              <a:rPr lang="en-US" dirty="0">
                <a:solidFill>
                  <a:schemeClr val="bg1">
                    <a:alpha val="60000"/>
                  </a:schemeClr>
                </a:solidFill>
              </a:rPr>
              <a:t>Its principle: WHO, SAID WHAT, THROUGH WHAT CHANNEL, TO WHOM, WITH WHAT EFFECT</a:t>
            </a:r>
            <a:r>
              <a:rPr lang="en-US" dirty="0"/>
              <a:t>?</a:t>
            </a:r>
          </a:p>
          <a:p>
            <a:endParaRPr lang="en-US" dirty="0"/>
          </a:p>
        </p:txBody>
      </p:sp>
    </p:spTree>
    <p:extLst>
      <p:ext uri="{BB962C8B-B14F-4D97-AF65-F5344CB8AC3E}">
        <p14:creationId xmlns:p14="http://schemas.microsoft.com/office/powerpoint/2010/main" val="1688655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621B9-905D-45B1-B74D-9F4B13D0D827}"/>
              </a:ext>
            </a:extLst>
          </p:cNvPr>
          <p:cNvSpPr>
            <a:spLocks noGrp="1"/>
          </p:cNvSpPr>
          <p:nvPr>
            <p:ph type="title"/>
          </p:nvPr>
        </p:nvSpPr>
        <p:spPr/>
        <p:txBody>
          <a:bodyPr/>
          <a:lstStyle/>
          <a:p>
            <a:r>
              <a:rPr lang="en-US" dirty="0">
                <a:solidFill>
                  <a:schemeClr val="bg1"/>
                </a:solidFill>
              </a:rPr>
              <a:t>Models of Communication: Laswell Model </a:t>
            </a:r>
          </a:p>
        </p:txBody>
      </p:sp>
      <p:pic>
        <p:nvPicPr>
          <p:cNvPr id="4" name="Picture 2" descr="Lasswell&amp;#39;s Model Of Communcation | Mass Communication Theory">
            <a:extLst>
              <a:ext uri="{FF2B5EF4-FFF2-40B4-BE49-F238E27FC236}">
                <a16:creationId xmlns:a16="http://schemas.microsoft.com/office/drawing/2014/main" id="{41AA1E85-873A-414F-A8B4-40E1316C41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5716" y="2025748"/>
            <a:ext cx="10438229" cy="3727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637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82AA-366C-463D-A0D9-E90626FC1717}"/>
              </a:ext>
            </a:extLst>
          </p:cNvPr>
          <p:cNvSpPr>
            <a:spLocks noGrp="1"/>
          </p:cNvSpPr>
          <p:nvPr>
            <p:ph type="title"/>
          </p:nvPr>
        </p:nvSpPr>
        <p:spPr>
          <a:xfrm>
            <a:off x="550862" y="549275"/>
            <a:ext cx="11091600" cy="1327651"/>
          </a:xfrm>
        </p:spPr>
        <p:txBody>
          <a:bodyPr>
            <a:normAutofit/>
          </a:bodyPr>
          <a:lstStyle/>
          <a:p>
            <a:r>
              <a:rPr lang="en-US" sz="3600" dirty="0"/>
              <a:t>Models of Communication: Shannon-Weaver</a:t>
            </a:r>
          </a:p>
        </p:txBody>
      </p:sp>
      <p:sp>
        <p:nvSpPr>
          <p:cNvPr id="3" name="Content Placeholder 2">
            <a:extLst>
              <a:ext uri="{FF2B5EF4-FFF2-40B4-BE49-F238E27FC236}">
                <a16:creationId xmlns:a16="http://schemas.microsoft.com/office/drawing/2014/main" id="{91A3C234-5161-4A72-97C5-061CAE8387E1}"/>
              </a:ext>
            </a:extLst>
          </p:cNvPr>
          <p:cNvSpPr>
            <a:spLocks noGrp="1"/>
          </p:cNvSpPr>
          <p:nvPr>
            <p:ph idx="1"/>
          </p:nvPr>
        </p:nvSpPr>
        <p:spPr>
          <a:xfrm>
            <a:off x="550863" y="1439187"/>
            <a:ext cx="11090274" cy="3979625"/>
          </a:xfrm>
        </p:spPr>
        <p:txBody>
          <a:bodyPr>
            <a:noAutofit/>
          </a:bodyPr>
          <a:lstStyle/>
          <a:p>
            <a:r>
              <a:rPr lang="en-US" sz="3200" b="1" dirty="0">
                <a:solidFill>
                  <a:srgbClr val="FFFF00">
                    <a:alpha val="60000"/>
                  </a:srgbClr>
                </a:solidFill>
              </a:rPr>
              <a:t>Shannon-Weaver Model of Communication: </a:t>
            </a:r>
          </a:p>
          <a:p>
            <a:r>
              <a:rPr lang="en-US" sz="3200" b="1" dirty="0">
                <a:solidFill>
                  <a:srgbClr val="FFFF00">
                    <a:alpha val="60000"/>
                  </a:srgbClr>
                </a:solidFill>
              </a:rPr>
              <a:t> The first model of communication that highlights the role of ‘noise’ in communication. </a:t>
            </a:r>
          </a:p>
          <a:p>
            <a:r>
              <a:rPr lang="en-US" sz="3200" b="1" dirty="0">
                <a:solidFill>
                  <a:srgbClr val="FFFF00">
                    <a:alpha val="60000"/>
                  </a:srgbClr>
                </a:solidFill>
              </a:rPr>
              <a:t>Its key components: Sender, Encoder, Channel, Noise, Decoder, Receiver. </a:t>
            </a:r>
          </a:p>
          <a:p>
            <a:r>
              <a:rPr lang="en-US" sz="3200" b="1" dirty="0">
                <a:solidFill>
                  <a:srgbClr val="FFFF00">
                    <a:alpha val="60000"/>
                  </a:srgbClr>
                </a:solidFill>
              </a:rPr>
              <a:t>It focusses on encoding and decoding of the messages. </a:t>
            </a:r>
          </a:p>
          <a:p>
            <a:r>
              <a:rPr lang="en-US" sz="3200" b="1" dirty="0">
                <a:solidFill>
                  <a:srgbClr val="FFFF00">
                    <a:alpha val="60000"/>
                  </a:srgbClr>
                </a:solidFill>
              </a:rPr>
              <a:t>During encoding and decoding ‘ noise’ ( barrier to communication) occurs that disrupts a message.</a:t>
            </a:r>
          </a:p>
          <a:p>
            <a:pPr marL="0" indent="0">
              <a:buNone/>
            </a:pPr>
            <a:endParaRPr lang="en-US" sz="3200" b="1" dirty="0">
              <a:solidFill>
                <a:srgbClr val="FFFF00">
                  <a:alpha val="60000"/>
                </a:srgbClr>
              </a:solidFill>
            </a:endParaRPr>
          </a:p>
        </p:txBody>
      </p:sp>
    </p:spTree>
    <p:extLst>
      <p:ext uri="{BB962C8B-B14F-4D97-AF65-F5344CB8AC3E}">
        <p14:creationId xmlns:p14="http://schemas.microsoft.com/office/powerpoint/2010/main" val="4074913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C58A-0FB3-4EEC-A609-359A032062D7}"/>
              </a:ext>
            </a:extLst>
          </p:cNvPr>
          <p:cNvSpPr>
            <a:spLocks noGrp="1"/>
          </p:cNvSpPr>
          <p:nvPr>
            <p:ph type="title"/>
          </p:nvPr>
        </p:nvSpPr>
        <p:spPr>
          <a:xfrm>
            <a:off x="550200" y="176297"/>
            <a:ext cx="11091599" cy="966704"/>
          </a:xfrm>
        </p:spPr>
        <p:txBody>
          <a:bodyPr>
            <a:normAutofit fontScale="90000"/>
          </a:bodyPr>
          <a:lstStyle/>
          <a:p>
            <a:r>
              <a:rPr lang="en-US" sz="4800" dirty="0"/>
              <a:t>Models of Communication: Shannon-Weaver</a:t>
            </a:r>
            <a:endParaRPr lang="en-US" dirty="0"/>
          </a:p>
        </p:txBody>
      </p:sp>
      <p:pic>
        <p:nvPicPr>
          <p:cNvPr id="7170" name="Picture 2" descr="Communication Cycle model by Shannon and Weaver | Effective communication  skills, Communication skills, Communication">
            <a:extLst>
              <a:ext uri="{FF2B5EF4-FFF2-40B4-BE49-F238E27FC236}">
                <a16:creationId xmlns:a16="http://schemas.microsoft.com/office/drawing/2014/main" id="{95498D72-9FDC-4FE5-89E2-839160C99D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2685" y="920458"/>
            <a:ext cx="9597188" cy="5017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154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C29A-B50B-465F-9541-86987171A3CD}"/>
              </a:ext>
            </a:extLst>
          </p:cNvPr>
          <p:cNvSpPr>
            <a:spLocks noGrp="1"/>
          </p:cNvSpPr>
          <p:nvPr>
            <p:ph type="title"/>
          </p:nvPr>
        </p:nvSpPr>
        <p:spPr>
          <a:xfrm>
            <a:off x="288759" y="765176"/>
            <a:ext cx="11478126" cy="1332000"/>
          </a:xfrm>
        </p:spPr>
        <p:txBody>
          <a:bodyPr>
            <a:normAutofit/>
          </a:bodyPr>
          <a:lstStyle/>
          <a:p>
            <a:pPr algn="ctr"/>
            <a:r>
              <a:rPr lang="en-US" sz="4000" dirty="0"/>
              <a:t>Models of Communication: Berlo’s S-M-C-R Model </a:t>
            </a:r>
          </a:p>
        </p:txBody>
      </p:sp>
      <p:sp>
        <p:nvSpPr>
          <p:cNvPr id="3" name="Content Placeholder 2">
            <a:extLst>
              <a:ext uri="{FF2B5EF4-FFF2-40B4-BE49-F238E27FC236}">
                <a16:creationId xmlns:a16="http://schemas.microsoft.com/office/drawing/2014/main" id="{6E8C760E-3A7A-4C8E-8597-E7EAC5CBEA51}"/>
              </a:ext>
            </a:extLst>
          </p:cNvPr>
          <p:cNvSpPr>
            <a:spLocks noGrp="1"/>
          </p:cNvSpPr>
          <p:nvPr>
            <p:ph idx="1"/>
          </p:nvPr>
        </p:nvSpPr>
        <p:spPr>
          <a:xfrm>
            <a:off x="482685" y="1583809"/>
            <a:ext cx="11090274" cy="3979625"/>
          </a:xfrm>
        </p:spPr>
        <p:txBody>
          <a:bodyPr/>
          <a:lstStyle/>
          <a:p>
            <a:r>
              <a:rPr lang="en-US" dirty="0"/>
              <a:t>Berlo’s S-M-C-R Model of Communication:</a:t>
            </a:r>
          </a:p>
          <a:p>
            <a:r>
              <a:rPr lang="en-US" dirty="0"/>
              <a:t>This model emphasizes S-M-C-R to be the key components of Communication.</a:t>
            </a:r>
          </a:p>
          <a:p>
            <a:r>
              <a:rPr lang="en-US" dirty="0"/>
              <a:t>S:  Source.	( sender, his attitude, his cultural background etc.)</a:t>
            </a:r>
          </a:p>
          <a:p>
            <a:r>
              <a:rPr lang="en-US" dirty="0"/>
              <a:t>M: Message.	(content, structure, code)</a:t>
            </a:r>
          </a:p>
          <a:p>
            <a:r>
              <a:rPr lang="en-US" dirty="0"/>
              <a:t>C: Channel.	(the pathway for communication)</a:t>
            </a:r>
          </a:p>
          <a:p>
            <a:r>
              <a:rPr lang="en-US" dirty="0"/>
              <a:t>R: Receiver	( receiver, his attitude, his cultural background, knowledge)</a:t>
            </a:r>
          </a:p>
        </p:txBody>
      </p:sp>
    </p:spTree>
    <p:extLst>
      <p:ext uri="{BB962C8B-B14F-4D97-AF65-F5344CB8AC3E}">
        <p14:creationId xmlns:p14="http://schemas.microsoft.com/office/powerpoint/2010/main" val="1633418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4" name="Freeform: Shape 143">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6" name="Oval 145">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8" name="Oval 147">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50" name="Group 149">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51" name="Freeform: Shape 150">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i="1" dirty="0"/>
            </a:p>
          </p:txBody>
        </p:sp>
        <p:sp>
          <p:nvSpPr>
            <p:cNvPr id="152" name="Freeform: Shape 151">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i="1" dirty="0">
                <a:solidFill>
                  <a:schemeClr val="tx1"/>
                </a:solidFill>
              </a:endParaRPr>
            </a:p>
          </p:txBody>
        </p:sp>
        <p:sp>
          <p:nvSpPr>
            <p:cNvPr id="153" name="Oval 152">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i="1"/>
            </a:p>
          </p:txBody>
        </p:sp>
        <p:sp>
          <p:nvSpPr>
            <p:cNvPr id="154" name="Oval 153">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800" i="1"/>
            </a:p>
          </p:txBody>
        </p:sp>
      </p:grpSp>
      <p:sp useBgFill="1">
        <p:nvSpPr>
          <p:cNvPr id="156" name="Rectangle 155">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61D6F-FB9A-4468-9521-BB8A8241B0DC}"/>
              </a:ext>
            </a:extLst>
          </p:cNvPr>
          <p:cNvSpPr>
            <a:spLocks noGrp="1"/>
          </p:cNvSpPr>
          <p:nvPr>
            <p:ph type="title"/>
          </p:nvPr>
        </p:nvSpPr>
        <p:spPr>
          <a:xfrm>
            <a:off x="2304890" y="300557"/>
            <a:ext cx="6373812" cy="984885"/>
          </a:xfrm>
        </p:spPr>
        <p:txBody>
          <a:bodyPr vert="horz" wrap="square" lIns="0" tIns="0" rIns="0" bIns="0" rtlCol="0" anchor="ctr" anchorCtr="0">
            <a:normAutofit/>
          </a:bodyPr>
          <a:lstStyle/>
          <a:p>
            <a:r>
              <a:rPr lang="en-US" sz="2800" dirty="0"/>
              <a:t>Berlo’s S-M-C-R Model of Communication</a:t>
            </a:r>
          </a:p>
        </p:txBody>
      </p:sp>
      <p:sp>
        <p:nvSpPr>
          <p:cNvPr id="158" name="Rectangle 157">
            <a:extLst>
              <a:ext uri="{FF2B5EF4-FFF2-40B4-BE49-F238E27FC236}">
                <a16:creationId xmlns:a16="http://schemas.microsoft.com/office/drawing/2014/main" id="{31ACE9CC-FA52-49A8-A8CB-4C6772C48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83434"/>
            <a:ext cx="12192000" cy="4774566"/>
          </a:xfrm>
          <a:prstGeom prst="rect">
            <a:avLst/>
          </a:prstGeom>
          <a:solidFill>
            <a:schemeClr val="bg2">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01E854A0-5353-40F2-92E7-0E79DDAF52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152445" y="1256231"/>
            <a:ext cx="9119937" cy="4225290"/>
          </a:xfrm>
          <a:custGeom>
            <a:avLst/>
            <a:gdLst/>
            <a:ahLst/>
            <a:cxnLst/>
            <a:rect l="l" t="t" r="r" b="b"/>
            <a:pathLst>
              <a:path w="12192000" h="4225290">
                <a:moveTo>
                  <a:pt x="0" y="0"/>
                </a:moveTo>
                <a:lnTo>
                  <a:pt x="12192000" y="0"/>
                </a:lnTo>
                <a:lnTo>
                  <a:pt x="12192000" y="4225290"/>
                </a:lnTo>
                <a:lnTo>
                  <a:pt x="0" y="4225290"/>
                </a:lnTo>
                <a:close/>
              </a:path>
            </a:pathLst>
          </a:custGeom>
          <a:noFill/>
          <a:extLst>
            <a:ext uri="{909E8E84-426E-40DD-AFC4-6F175D3DCCD1}">
              <a14:hiddenFill xmlns:a14="http://schemas.microsoft.com/office/drawing/2010/main">
                <a:solidFill>
                  <a:srgbClr val="FFFFFF"/>
                </a:solidFill>
              </a14:hiddenFill>
            </a:ext>
          </a:extLst>
        </p:spPr>
      </p:pic>
      <p:sp>
        <p:nvSpPr>
          <p:cNvPr id="160" name="Rectangle 159">
            <a:extLst>
              <a:ext uri="{FF2B5EF4-FFF2-40B4-BE49-F238E27FC236}">
                <a16:creationId xmlns:a16="http://schemas.microsoft.com/office/drawing/2014/main" id="{28B56926-F216-4281-9196-1495BD306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5757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E188-427A-4DCB-B661-D64CACB46530}"/>
              </a:ext>
            </a:extLst>
          </p:cNvPr>
          <p:cNvSpPr>
            <a:spLocks noGrp="1"/>
          </p:cNvSpPr>
          <p:nvPr>
            <p:ph type="title"/>
          </p:nvPr>
        </p:nvSpPr>
        <p:spPr/>
        <p:txBody>
          <a:bodyPr>
            <a:normAutofit/>
          </a:bodyPr>
          <a:lstStyle/>
          <a:p>
            <a:pPr algn="ctr"/>
            <a:r>
              <a:rPr lang="en-US" sz="4000" dirty="0"/>
              <a:t>Models of Communication: Osgood-Schramm</a:t>
            </a:r>
          </a:p>
        </p:txBody>
      </p:sp>
      <p:sp>
        <p:nvSpPr>
          <p:cNvPr id="3" name="Content Placeholder 2">
            <a:extLst>
              <a:ext uri="{FF2B5EF4-FFF2-40B4-BE49-F238E27FC236}">
                <a16:creationId xmlns:a16="http://schemas.microsoft.com/office/drawing/2014/main" id="{DE2B0B3E-4326-4EAB-92DD-AC79A8F90EC5}"/>
              </a:ext>
            </a:extLst>
          </p:cNvPr>
          <p:cNvSpPr>
            <a:spLocks noGrp="1"/>
          </p:cNvSpPr>
          <p:nvPr>
            <p:ph idx="1"/>
          </p:nvPr>
        </p:nvSpPr>
        <p:spPr>
          <a:xfrm>
            <a:off x="418515" y="1571778"/>
            <a:ext cx="11090274" cy="3979625"/>
          </a:xfrm>
        </p:spPr>
        <p:txBody>
          <a:bodyPr>
            <a:normAutofit fontScale="25000" lnSpcReduction="20000"/>
          </a:bodyPr>
          <a:lstStyle/>
          <a:p>
            <a:r>
              <a:rPr lang="en-US" sz="8600" b="1" dirty="0">
                <a:solidFill>
                  <a:schemeClr val="tx1"/>
                </a:solidFill>
              </a:rPr>
              <a:t>Osgood- Schramm Model of Communication: an Interactional Model of communication.</a:t>
            </a:r>
          </a:p>
          <a:p>
            <a:r>
              <a:rPr lang="en-US" sz="8600" b="1" dirty="0">
                <a:solidFill>
                  <a:schemeClr val="tx1"/>
                </a:solidFill>
              </a:rPr>
              <a:t>A circular model communication that underlines the interactive nature of communication. </a:t>
            </a:r>
          </a:p>
          <a:p>
            <a:r>
              <a:rPr lang="en-US" sz="8600" b="1" dirty="0">
                <a:solidFill>
                  <a:schemeClr val="tx1"/>
                </a:solidFill>
              </a:rPr>
              <a:t>Its key points:</a:t>
            </a:r>
          </a:p>
          <a:p>
            <a:pPr marL="0" indent="0">
              <a:buNone/>
            </a:pPr>
            <a:r>
              <a:rPr lang="en-US" sz="8600" b="1" i="0" dirty="0">
                <a:solidFill>
                  <a:schemeClr val="tx1"/>
                </a:solidFill>
                <a:effectLst/>
                <a:latin typeface="Tahoma" panose="020B0604030504040204" pitchFamily="34" charset="0"/>
              </a:rPr>
              <a:t>1) communication is not linear, but circular.</a:t>
            </a:r>
          </a:p>
          <a:p>
            <a:pPr marL="0" indent="0">
              <a:buNone/>
            </a:pPr>
            <a:r>
              <a:rPr lang="en-US" sz="8600" b="1" i="0" dirty="0">
                <a:solidFill>
                  <a:schemeClr val="tx1"/>
                </a:solidFill>
                <a:effectLst/>
                <a:latin typeface="Tahoma" panose="020B0604030504040204" pitchFamily="34" charset="0"/>
              </a:rPr>
              <a:t>2) communication is reciprocal and equal.</a:t>
            </a:r>
          </a:p>
          <a:p>
            <a:pPr marL="0" indent="0">
              <a:buNone/>
            </a:pPr>
            <a:r>
              <a:rPr lang="en-US" sz="8600" b="1" i="0" dirty="0">
                <a:solidFill>
                  <a:schemeClr val="tx1"/>
                </a:solidFill>
                <a:effectLst/>
                <a:latin typeface="Tahoma" panose="020B0604030504040204" pitchFamily="34" charset="0"/>
              </a:rPr>
              <a:t>3) messages are based on interpretation.</a:t>
            </a:r>
          </a:p>
          <a:p>
            <a:pPr marL="0" indent="0">
              <a:buNone/>
            </a:pPr>
            <a:r>
              <a:rPr lang="en-US" sz="8600" b="1" i="0" dirty="0">
                <a:solidFill>
                  <a:schemeClr val="tx1"/>
                </a:solidFill>
                <a:effectLst/>
                <a:latin typeface="Tahoma" panose="020B0604030504040204" pitchFamily="34" charset="0"/>
              </a:rPr>
              <a:t>4) communication involves encoding, decoding, and interpreting and they are continuous. </a:t>
            </a:r>
            <a:endParaRPr lang="en-US" sz="8600" b="1" dirty="0">
              <a:solidFill>
                <a:schemeClr val="tx1"/>
              </a:solidFill>
            </a:endParaRPr>
          </a:p>
          <a:p>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1446233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84EB-8DCE-4FDA-8C92-41F4BA598406}"/>
              </a:ext>
            </a:extLst>
          </p:cNvPr>
          <p:cNvSpPr>
            <a:spLocks noGrp="1"/>
          </p:cNvSpPr>
          <p:nvPr>
            <p:ph type="title"/>
          </p:nvPr>
        </p:nvSpPr>
        <p:spPr/>
        <p:txBody>
          <a:bodyPr>
            <a:normAutofit/>
          </a:bodyPr>
          <a:lstStyle/>
          <a:p>
            <a:r>
              <a:rPr lang="en-US" sz="3600" dirty="0">
                <a:solidFill>
                  <a:schemeClr val="tx1"/>
                </a:solidFill>
              </a:rPr>
              <a:t>Osgood- Schramm Model of Communication:</a:t>
            </a:r>
            <a:endParaRPr lang="en-US" sz="3600" dirty="0"/>
          </a:p>
        </p:txBody>
      </p:sp>
      <p:pic>
        <p:nvPicPr>
          <p:cNvPr id="2050" name="Picture 2">
            <a:extLst>
              <a:ext uri="{FF2B5EF4-FFF2-40B4-BE49-F238E27FC236}">
                <a16:creationId xmlns:a16="http://schemas.microsoft.com/office/drawing/2014/main" id="{8A4D3664-BE39-4AE4-A7F3-0D4103030D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533400"/>
            <a:ext cx="9938083" cy="4013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45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6B914-F671-49F0-953B-B57F1B367F1B}"/>
              </a:ext>
            </a:extLst>
          </p:cNvPr>
          <p:cNvSpPr>
            <a:spLocks noGrp="1"/>
          </p:cNvSpPr>
          <p:nvPr>
            <p:ph type="title"/>
          </p:nvPr>
        </p:nvSpPr>
        <p:spPr/>
        <p:txBody>
          <a:bodyPr>
            <a:normAutofit fontScale="90000"/>
          </a:bodyPr>
          <a:lstStyle/>
          <a:p>
            <a:r>
              <a:rPr lang="en-US" dirty="0">
                <a:solidFill>
                  <a:schemeClr val="tx1"/>
                </a:solidFill>
              </a:rPr>
              <a:t>Model of Communication: Westley and Maclean</a:t>
            </a:r>
            <a:endParaRPr lang="en-US" dirty="0"/>
          </a:p>
        </p:txBody>
      </p:sp>
      <p:sp>
        <p:nvSpPr>
          <p:cNvPr id="3" name="Content Placeholder 2">
            <a:extLst>
              <a:ext uri="{FF2B5EF4-FFF2-40B4-BE49-F238E27FC236}">
                <a16:creationId xmlns:a16="http://schemas.microsoft.com/office/drawing/2014/main" id="{893B2683-8BB6-47E2-95F9-529574BE99BB}"/>
              </a:ext>
            </a:extLst>
          </p:cNvPr>
          <p:cNvSpPr>
            <a:spLocks noGrp="1"/>
          </p:cNvSpPr>
          <p:nvPr>
            <p:ph idx="1"/>
          </p:nvPr>
        </p:nvSpPr>
        <p:spPr>
          <a:xfrm>
            <a:off x="549538" y="1523651"/>
            <a:ext cx="11090274" cy="3979625"/>
          </a:xfrm>
        </p:spPr>
        <p:txBody>
          <a:bodyPr>
            <a:normAutofit/>
          </a:bodyPr>
          <a:lstStyle/>
          <a:p>
            <a:r>
              <a:rPr lang="en-US" dirty="0">
                <a:solidFill>
                  <a:schemeClr val="tx1"/>
                </a:solidFill>
              </a:rPr>
              <a:t>Westley and Maclean Model of Communication:</a:t>
            </a:r>
          </a:p>
          <a:p>
            <a:pPr algn="l"/>
            <a:r>
              <a:rPr lang="en-US" b="0" i="0" dirty="0">
                <a:solidFill>
                  <a:schemeClr val="tx1"/>
                </a:solidFill>
                <a:effectLst/>
                <a:latin typeface="Georgia" panose="02040502050405020303" pitchFamily="18" charset="0"/>
              </a:rPr>
              <a:t>In 1957 Westley and MacLean’s model of communication is proposed by Bruce Westley (1915-1990) and Malcolm S. MacLean Jr (1913-2001). </a:t>
            </a:r>
          </a:p>
          <a:p>
            <a:pPr algn="l"/>
            <a:r>
              <a:rPr lang="en-US" dirty="0">
                <a:solidFill>
                  <a:schemeClr val="tx1"/>
                </a:solidFill>
                <a:latin typeface="Georgia" panose="02040502050405020303" pitchFamily="18" charset="0"/>
              </a:rPr>
              <a:t>This model of Communication classifies communication in two groups: </a:t>
            </a:r>
          </a:p>
          <a:p>
            <a:pPr algn="l"/>
            <a:r>
              <a:rPr lang="en-US" dirty="0">
                <a:solidFill>
                  <a:schemeClr val="tx1"/>
                </a:solidFill>
                <a:latin typeface="Georgia" panose="02040502050405020303" pitchFamily="18" charset="0"/>
              </a:rPr>
              <a:t>Interpersonal communication and Mass Communication.</a:t>
            </a:r>
          </a:p>
          <a:p>
            <a:pPr algn="l"/>
            <a:r>
              <a:rPr lang="en-US" b="0" i="0" dirty="0">
                <a:solidFill>
                  <a:schemeClr val="tx1"/>
                </a:solidFill>
                <a:effectLst/>
                <a:latin typeface="Georgia" panose="02040502050405020303" pitchFamily="18" charset="0"/>
              </a:rPr>
              <a:t>In Interpersonal Communication, the feedback is fast and direct.</a:t>
            </a:r>
          </a:p>
          <a:p>
            <a:pPr algn="l"/>
            <a:r>
              <a:rPr lang="en-US" dirty="0">
                <a:solidFill>
                  <a:schemeClr val="tx1"/>
                </a:solidFill>
                <a:latin typeface="Georgia" panose="02040502050405020303" pitchFamily="18" charset="0"/>
              </a:rPr>
              <a:t>In Mass Communication, the feedback is indirect and slow. </a:t>
            </a:r>
            <a:endParaRPr lang="en-US" b="0" i="0" dirty="0">
              <a:solidFill>
                <a:schemeClr val="tx1"/>
              </a:solidFill>
              <a:effectLst/>
              <a:latin typeface="Georgia" panose="02040502050405020303" pitchFamily="18" charset="0"/>
            </a:endParaRPr>
          </a:p>
          <a:p>
            <a:endParaRPr lang="en-US" dirty="0">
              <a:solidFill>
                <a:schemeClr val="tx1"/>
              </a:solidFill>
            </a:endParaRPr>
          </a:p>
        </p:txBody>
      </p:sp>
    </p:spTree>
    <p:extLst>
      <p:ext uri="{BB962C8B-B14F-4D97-AF65-F5344CB8AC3E}">
        <p14:creationId xmlns:p14="http://schemas.microsoft.com/office/powerpoint/2010/main" val="870975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6AE8-CA9B-450C-8768-AA19087957AA}"/>
              </a:ext>
            </a:extLst>
          </p:cNvPr>
          <p:cNvSpPr>
            <a:spLocks noGrp="1"/>
          </p:cNvSpPr>
          <p:nvPr>
            <p:ph type="title"/>
          </p:nvPr>
        </p:nvSpPr>
        <p:spPr>
          <a:xfrm>
            <a:off x="550862" y="549275"/>
            <a:ext cx="11091600" cy="858420"/>
          </a:xfrm>
        </p:spPr>
        <p:txBody>
          <a:bodyPr>
            <a:normAutofit fontScale="90000"/>
          </a:bodyPr>
          <a:lstStyle/>
          <a:p>
            <a:r>
              <a:rPr lang="en-US" dirty="0">
                <a:solidFill>
                  <a:schemeClr val="tx1"/>
                </a:solidFill>
              </a:rPr>
              <a:t>Model of Communication: Westley and Maclean</a:t>
            </a:r>
            <a:br>
              <a:rPr lang="en-US" dirty="0">
                <a:solidFill>
                  <a:schemeClr val="tx1"/>
                </a:solidFill>
              </a:rPr>
            </a:br>
            <a:endParaRPr lang="en-US" dirty="0"/>
          </a:p>
        </p:txBody>
      </p:sp>
      <p:sp>
        <p:nvSpPr>
          <p:cNvPr id="3" name="Content Placeholder 2">
            <a:extLst>
              <a:ext uri="{FF2B5EF4-FFF2-40B4-BE49-F238E27FC236}">
                <a16:creationId xmlns:a16="http://schemas.microsoft.com/office/drawing/2014/main" id="{983F105A-C504-442E-A543-8E4C160E1EC2}"/>
              </a:ext>
            </a:extLst>
          </p:cNvPr>
          <p:cNvSpPr>
            <a:spLocks noGrp="1"/>
          </p:cNvSpPr>
          <p:nvPr>
            <p:ph idx="1"/>
          </p:nvPr>
        </p:nvSpPr>
        <p:spPr>
          <a:xfrm>
            <a:off x="549537" y="1407695"/>
            <a:ext cx="11091600" cy="4685129"/>
          </a:xfrm>
        </p:spPr>
        <p:txBody>
          <a:bodyPr>
            <a:noAutofit/>
          </a:bodyPr>
          <a:lstStyle/>
          <a:p>
            <a:pPr algn="l"/>
            <a:r>
              <a:rPr lang="en-US" i="0" dirty="0">
                <a:solidFill>
                  <a:schemeClr val="tx1"/>
                </a:solidFill>
                <a:effectLst/>
                <a:latin typeface="Georgia" panose="02040502050405020303" pitchFamily="18" charset="0"/>
              </a:rPr>
              <a:t>Westley and MacLean believed that communication doesn’t start from day one but actually</a:t>
            </a:r>
          </a:p>
          <a:p>
            <a:pPr marL="0" indent="0" algn="l">
              <a:buNone/>
            </a:pPr>
            <a:r>
              <a:rPr lang="en-US" i="0" dirty="0">
                <a:solidFill>
                  <a:schemeClr val="tx1"/>
                </a:solidFill>
                <a:effectLst/>
                <a:latin typeface="Georgia" panose="02040502050405020303" pitchFamily="18" charset="0"/>
              </a:rPr>
              <a:t>     begins when the speaker receives signals or messages from his external surroundings. </a:t>
            </a:r>
          </a:p>
          <a:p>
            <a:pPr algn="l"/>
            <a:r>
              <a:rPr lang="en-US" b="0" i="0" dirty="0">
                <a:solidFill>
                  <a:schemeClr val="tx1"/>
                </a:solidFill>
                <a:effectLst/>
                <a:latin typeface="Georgia" panose="02040502050405020303" pitchFamily="18" charset="0"/>
              </a:rPr>
              <a:t>In this model again the process of initiating communication by first sending messages takes a back seat</a:t>
            </a:r>
          </a:p>
          <a:p>
            <a:pPr algn="l"/>
            <a:r>
              <a:rPr lang="en-US" b="0" i="0" dirty="0">
                <a:solidFill>
                  <a:schemeClr val="tx1"/>
                </a:solidFill>
                <a:effectLst/>
                <a:latin typeface="Georgia" panose="02040502050405020303" pitchFamily="18" charset="0"/>
              </a:rPr>
              <a:t> It suggests that communication starts with receiving messages from the environment.</a:t>
            </a:r>
          </a:p>
          <a:p>
            <a:r>
              <a:rPr kumimoji="0" lang="en-US" altLang="en-US" b="0" i="0" u="none" strike="noStrike" cap="none" normalizeH="0" baseline="0" dirty="0">
                <a:ln>
                  <a:noFill/>
                </a:ln>
                <a:solidFill>
                  <a:schemeClr val="tx1"/>
                </a:solidFill>
                <a:effectLst/>
                <a:latin typeface="Georgia" panose="02040502050405020303" pitchFamily="18" charset="0"/>
                <a:cs typeface="Open Sans" panose="020B0606030504020204" pitchFamily="34" charset="0"/>
              </a:rPr>
              <a:t>This model considers a strong relation between the signals from the surroundings and the process of communication. According to this model the process of communication begins with receiving messages rather than sending messages.</a:t>
            </a:r>
            <a:endParaRPr kumimoji="0" lang="en-US" altLang="en-US" b="0" i="0" u="none" strike="noStrike" cap="none" normalizeH="0" baseline="0" dirty="0">
              <a:ln>
                <a:noFill/>
              </a:ln>
              <a:solidFill>
                <a:schemeClr val="tx1"/>
              </a:solidFill>
              <a:effectLst/>
              <a:latin typeface="Georgia" panose="02040502050405020303" pitchFamily="18" charset="0"/>
            </a:endParaRPr>
          </a:p>
          <a:p>
            <a:pPr algn="l"/>
            <a:r>
              <a:rPr lang="en-US" b="0" i="0" dirty="0">
                <a:solidFill>
                  <a:schemeClr val="tx1"/>
                </a:solidFill>
                <a:effectLst/>
                <a:latin typeface="Georgia" panose="02040502050405020303" pitchFamily="18" charset="0"/>
              </a:rPr>
              <a:t>It advocates that communication is influenced by environmental, cultural and personal factors.</a:t>
            </a:r>
          </a:p>
          <a:p>
            <a:pPr algn="l"/>
            <a:endParaRPr lang="en-US" b="0" i="0" dirty="0">
              <a:solidFill>
                <a:schemeClr val="tx1"/>
              </a:solidFill>
              <a:effectLst/>
              <a:latin typeface="Georgia" panose="02040502050405020303" pitchFamily="18" charset="0"/>
            </a:endParaRPr>
          </a:p>
          <a:p>
            <a:pPr algn="l"/>
            <a:endParaRPr lang="en-US" b="0" i="0" dirty="0">
              <a:solidFill>
                <a:schemeClr val="tx1"/>
              </a:solidFill>
              <a:effectLst/>
              <a:latin typeface="Georgia" panose="02040502050405020303" pitchFamily="18" charset="0"/>
            </a:endParaRPr>
          </a:p>
          <a:p>
            <a:pPr algn="l"/>
            <a:endParaRPr lang="en-US" b="0" i="0" dirty="0">
              <a:solidFill>
                <a:schemeClr val="tx1"/>
              </a:solidFill>
              <a:effectLst/>
              <a:latin typeface="Georgia" panose="02040502050405020303" pitchFamily="18" charset="0"/>
            </a:endParaRPr>
          </a:p>
          <a:p>
            <a:br>
              <a:rPr lang="en-US" dirty="0">
                <a:solidFill>
                  <a:schemeClr val="tx1"/>
                </a:solidFill>
                <a:latin typeface="Georgia" panose="02040502050405020303" pitchFamily="18" charset="0"/>
              </a:rPr>
            </a:br>
            <a:endParaRPr lang="en-US" dirty="0">
              <a:solidFill>
                <a:schemeClr val="tx1"/>
              </a:solidFill>
              <a:latin typeface="Georgia" panose="02040502050405020303" pitchFamily="18" charset="0"/>
            </a:endParaRPr>
          </a:p>
        </p:txBody>
      </p:sp>
    </p:spTree>
    <p:extLst>
      <p:ext uri="{BB962C8B-B14F-4D97-AF65-F5344CB8AC3E}">
        <p14:creationId xmlns:p14="http://schemas.microsoft.com/office/powerpoint/2010/main" val="1849829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11E8D-BE09-4698-8949-348A04983DAE}"/>
              </a:ext>
            </a:extLst>
          </p:cNvPr>
          <p:cNvSpPr>
            <a:spLocks noGrp="1"/>
          </p:cNvSpPr>
          <p:nvPr>
            <p:ph type="title"/>
          </p:nvPr>
        </p:nvSpPr>
        <p:spPr>
          <a:xfrm>
            <a:off x="550863" y="219795"/>
            <a:ext cx="11090274" cy="822325"/>
          </a:xfrm>
        </p:spPr>
        <p:txBody>
          <a:bodyPr>
            <a:normAutofit fontScale="90000"/>
          </a:bodyPr>
          <a:lstStyle/>
          <a:p>
            <a:r>
              <a:rPr lang="en-US" dirty="0">
                <a:solidFill>
                  <a:schemeClr val="tx1"/>
                </a:solidFill>
              </a:rPr>
              <a:t>Model of Communication: Westley and Maclean</a:t>
            </a:r>
            <a:endParaRPr lang="en-US" dirty="0"/>
          </a:p>
        </p:txBody>
      </p:sp>
      <p:pic>
        <p:nvPicPr>
          <p:cNvPr id="4098" name="Picture 2" descr="westley and maclean model of communication diagram">
            <a:extLst>
              <a:ext uri="{FF2B5EF4-FFF2-40B4-BE49-F238E27FC236}">
                <a16:creationId xmlns:a16="http://schemas.microsoft.com/office/drawing/2014/main" id="{132974C0-0B79-4A52-BD79-2A424BBEEF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8467" y="1195754"/>
            <a:ext cx="10438227" cy="5161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425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8793-EC3C-4AF7-8291-9D86FE961F16}"/>
              </a:ext>
            </a:extLst>
          </p:cNvPr>
          <p:cNvSpPr>
            <a:spLocks noGrp="1"/>
          </p:cNvSpPr>
          <p:nvPr>
            <p:ph type="title"/>
          </p:nvPr>
        </p:nvSpPr>
        <p:spPr>
          <a:xfrm>
            <a:off x="550200" y="759655"/>
            <a:ext cx="11091599" cy="773723"/>
          </a:xfrm>
        </p:spPr>
        <p:txBody>
          <a:bodyPr>
            <a:normAutofit fontScale="90000"/>
          </a:bodyPr>
          <a:lstStyle/>
          <a:p>
            <a:r>
              <a:rPr lang="en-US" dirty="0">
                <a:solidFill>
                  <a:schemeClr val="tx1"/>
                </a:solidFill>
              </a:rPr>
              <a:t>Model of Communication: Westley and Maclean</a:t>
            </a:r>
            <a:endParaRPr lang="en-US" dirty="0"/>
          </a:p>
        </p:txBody>
      </p:sp>
      <p:sp>
        <p:nvSpPr>
          <p:cNvPr id="3" name="Content Placeholder 2">
            <a:extLst>
              <a:ext uri="{FF2B5EF4-FFF2-40B4-BE49-F238E27FC236}">
                <a16:creationId xmlns:a16="http://schemas.microsoft.com/office/drawing/2014/main" id="{E5338AFB-1D9D-4B25-B426-6C42A9FE971D}"/>
              </a:ext>
            </a:extLst>
          </p:cNvPr>
          <p:cNvSpPr>
            <a:spLocks noGrp="1"/>
          </p:cNvSpPr>
          <p:nvPr>
            <p:ph idx="1"/>
          </p:nvPr>
        </p:nvSpPr>
        <p:spPr>
          <a:xfrm>
            <a:off x="550200" y="1913205"/>
            <a:ext cx="11233836" cy="5190978"/>
          </a:xfrm>
        </p:spPr>
        <p:txBody>
          <a:bodyPr>
            <a:noAutofit/>
          </a:bodyPr>
          <a:lstStyle/>
          <a:p>
            <a:pPr algn="l" fontAlgn="base">
              <a:buFont typeface="Arial" panose="020B0604020202020204" pitchFamily="34" charset="0"/>
              <a:buChar char="•"/>
            </a:pPr>
            <a:r>
              <a:rPr lang="en-US" b="1" i="0" dirty="0">
                <a:solidFill>
                  <a:schemeClr val="tx1"/>
                </a:solidFill>
                <a:effectLst/>
                <a:latin typeface="inherit"/>
              </a:rPr>
              <a:t>Source </a:t>
            </a:r>
            <a:r>
              <a:rPr lang="en-US" b="1" i="0" dirty="0">
                <a:solidFill>
                  <a:schemeClr val="tx1"/>
                </a:solidFill>
                <a:effectLst/>
                <a:latin typeface="Roboto" panose="02000000000000000000" pitchFamily="2" charset="0"/>
              </a:rPr>
              <a:t>(A) – Source is the message creator and sender.</a:t>
            </a:r>
          </a:p>
          <a:p>
            <a:pPr algn="l" fontAlgn="base">
              <a:buFont typeface="Arial" panose="020B0604020202020204" pitchFamily="34" charset="0"/>
              <a:buChar char="•"/>
            </a:pPr>
            <a:r>
              <a:rPr lang="en-US" b="1" i="0" dirty="0">
                <a:solidFill>
                  <a:schemeClr val="tx1"/>
                </a:solidFill>
                <a:effectLst/>
                <a:latin typeface="inherit"/>
              </a:rPr>
              <a:t>Environment </a:t>
            </a:r>
            <a:r>
              <a:rPr lang="en-US" b="1" i="0" dirty="0">
                <a:solidFill>
                  <a:schemeClr val="tx1"/>
                </a:solidFill>
                <a:effectLst/>
                <a:latin typeface="Roboto" panose="02000000000000000000" pitchFamily="2" charset="0"/>
              </a:rPr>
              <a:t>(X) – Environment is the physical and psychological situation where the message is being created and sent.</a:t>
            </a:r>
          </a:p>
          <a:p>
            <a:pPr algn="l" fontAlgn="base">
              <a:buFont typeface="Arial" panose="020B0604020202020204" pitchFamily="34" charset="0"/>
              <a:buChar char="•"/>
            </a:pPr>
            <a:r>
              <a:rPr lang="en-US" b="1" i="0" dirty="0">
                <a:solidFill>
                  <a:schemeClr val="tx1"/>
                </a:solidFill>
                <a:effectLst/>
                <a:latin typeface="inherit"/>
              </a:rPr>
              <a:t>Sensory experience</a:t>
            </a:r>
            <a:r>
              <a:rPr lang="en-US" b="1" i="0" dirty="0">
                <a:solidFill>
                  <a:schemeClr val="tx1"/>
                </a:solidFill>
                <a:effectLst/>
                <a:latin typeface="Roboto" panose="02000000000000000000" pitchFamily="2" charset="0"/>
              </a:rPr>
              <a:t> (X1…) – Sensory experience is the first thing that the source sees by which the source gets the idea for the formation of the message.</a:t>
            </a:r>
          </a:p>
          <a:p>
            <a:pPr algn="l" fontAlgn="base">
              <a:buFont typeface="Arial" panose="020B0604020202020204" pitchFamily="34" charset="0"/>
              <a:buChar char="•"/>
            </a:pPr>
            <a:r>
              <a:rPr lang="en-US" b="1" i="0" dirty="0">
                <a:solidFill>
                  <a:schemeClr val="tx1"/>
                </a:solidFill>
                <a:effectLst/>
                <a:latin typeface="inherit"/>
              </a:rPr>
              <a:t>Objects of Orientation</a:t>
            </a:r>
            <a:r>
              <a:rPr lang="en-US" b="1" i="0" dirty="0">
                <a:solidFill>
                  <a:schemeClr val="tx1"/>
                </a:solidFill>
                <a:effectLst/>
                <a:latin typeface="Roboto" panose="02000000000000000000" pitchFamily="2" charset="0"/>
              </a:rPr>
              <a:t> (X1, X2,…) – Objects of orientation is the person’s social and cultural reality that has formed from his/her past experiences and teachings.</a:t>
            </a:r>
          </a:p>
          <a:p>
            <a:pPr algn="l" fontAlgn="base">
              <a:buFont typeface="Arial" panose="020B0604020202020204" pitchFamily="34" charset="0"/>
              <a:buChar char="•"/>
            </a:pPr>
            <a:r>
              <a:rPr lang="en-US" b="1" i="0" dirty="0">
                <a:solidFill>
                  <a:schemeClr val="tx1"/>
                </a:solidFill>
                <a:effectLst/>
                <a:latin typeface="inherit"/>
              </a:rPr>
              <a:t>Message Interpretation or Coding</a:t>
            </a:r>
            <a:r>
              <a:rPr lang="en-US" b="1" i="0" dirty="0">
                <a:solidFill>
                  <a:schemeClr val="tx1"/>
                </a:solidFill>
                <a:effectLst/>
                <a:latin typeface="Roboto" panose="02000000000000000000" pitchFamily="2" charset="0"/>
              </a:rPr>
              <a:t> (X’) – Message is interpreted with the objects of orientation of the receiver of the message.</a:t>
            </a:r>
          </a:p>
          <a:p>
            <a:pPr algn="l" fontAlgn="base">
              <a:buFont typeface="Arial" panose="020B0604020202020204" pitchFamily="34" charset="0"/>
              <a:buChar char="•"/>
            </a:pPr>
            <a:r>
              <a:rPr lang="en-US" b="1" i="0" dirty="0">
                <a:solidFill>
                  <a:schemeClr val="tx1"/>
                </a:solidFill>
                <a:effectLst/>
                <a:latin typeface="inherit"/>
              </a:rPr>
              <a:t>Receiver </a:t>
            </a:r>
            <a:r>
              <a:rPr lang="en-US" b="1" i="0" dirty="0">
                <a:solidFill>
                  <a:schemeClr val="tx1"/>
                </a:solidFill>
                <a:effectLst/>
                <a:latin typeface="Roboto" panose="02000000000000000000" pitchFamily="2" charset="0"/>
              </a:rPr>
              <a:t>(B) – The person who gets the message sent by the source and the person who interprets according to his/her objects of orientation.</a:t>
            </a:r>
          </a:p>
          <a:p>
            <a:br>
              <a:rPr lang="en-US" b="1" dirty="0">
                <a:solidFill>
                  <a:schemeClr val="tx1"/>
                </a:solidFill>
              </a:rPr>
            </a:br>
            <a:endParaRPr lang="en-US" b="1" dirty="0">
              <a:solidFill>
                <a:schemeClr val="tx1"/>
              </a:solidFill>
            </a:endParaRPr>
          </a:p>
        </p:txBody>
      </p:sp>
    </p:spTree>
    <p:extLst>
      <p:ext uri="{BB962C8B-B14F-4D97-AF65-F5344CB8AC3E}">
        <p14:creationId xmlns:p14="http://schemas.microsoft.com/office/powerpoint/2010/main" val="4224991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B975-6CC9-4845-A807-98CA9CC05D63}"/>
              </a:ext>
            </a:extLst>
          </p:cNvPr>
          <p:cNvSpPr>
            <a:spLocks noGrp="1"/>
          </p:cNvSpPr>
          <p:nvPr>
            <p:ph type="title"/>
          </p:nvPr>
        </p:nvSpPr>
        <p:spPr/>
        <p:txBody>
          <a:bodyPr>
            <a:normAutofit fontScale="90000"/>
          </a:bodyPr>
          <a:lstStyle/>
          <a:p>
            <a:r>
              <a:rPr lang="en-US" dirty="0">
                <a:solidFill>
                  <a:schemeClr val="tx1"/>
                </a:solidFill>
              </a:rPr>
              <a:t>Model of Communication: Westley and Maclean</a:t>
            </a:r>
            <a:endParaRPr lang="en-US" dirty="0"/>
          </a:p>
        </p:txBody>
      </p:sp>
      <p:sp>
        <p:nvSpPr>
          <p:cNvPr id="3" name="Content Placeholder 2">
            <a:extLst>
              <a:ext uri="{FF2B5EF4-FFF2-40B4-BE49-F238E27FC236}">
                <a16:creationId xmlns:a16="http://schemas.microsoft.com/office/drawing/2014/main" id="{8AB31F3E-2312-4706-A64C-3AB2FC96BCB4}"/>
              </a:ext>
            </a:extLst>
          </p:cNvPr>
          <p:cNvSpPr>
            <a:spLocks noGrp="1"/>
          </p:cNvSpPr>
          <p:nvPr>
            <p:ph idx="1"/>
          </p:nvPr>
        </p:nvSpPr>
        <p:spPr/>
        <p:txBody>
          <a:bodyPr/>
          <a:lstStyle/>
          <a:p>
            <a:pPr algn="l" fontAlgn="base">
              <a:buFont typeface="Arial" panose="020B0604020202020204" pitchFamily="34" charset="0"/>
              <a:buChar char="•"/>
            </a:pPr>
            <a:r>
              <a:rPr lang="en-US" sz="2000" b="1" i="0" dirty="0">
                <a:solidFill>
                  <a:schemeClr val="tx1"/>
                </a:solidFill>
                <a:effectLst/>
                <a:latin typeface="inherit"/>
              </a:rPr>
              <a:t>Object of Orientation of Receiver</a:t>
            </a:r>
            <a:r>
              <a:rPr lang="en-US" sz="2000" b="1" i="0" dirty="0">
                <a:solidFill>
                  <a:schemeClr val="tx1"/>
                </a:solidFill>
                <a:effectLst/>
                <a:latin typeface="Roboto" panose="02000000000000000000" pitchFamily="2" charset="0"/>
              </a:rPr>
              <a:t> (X, b) – The views and ideas of the receiver or his/her social reality is his/her object of orientation. That is how the receiver interprets the message.</a:t>
            </a:r>
          </a:p>
          <a:p>
            <a:pPr algn="l" fontAlgn="base">
              <a:buFont typeface="Arial" panose="020B0604020202020204" pitchFamily="34" charset="0"/>
              <a:buChar char="•"/>
            </a:pPr>
            <a:r>
              <a:rPr lang="en-US" sz="2000" b="1" i="0" dirty="0">
                <a:solidFill>
                  <a:schemeClr val="tx1"/>
                </a:solidFill>
                <a:effectLst/>
                <a:latin typeface="inherit"/>
              </a:rPr>
              <a:t>Feedback</a:t>
            </a:r>
            <a:r>
              <a:rPr lang="en-US" sz="2000" b="1" i="0" dirty="0">
                <a:solidFill>
                  <a:schemeClr val="tx1"/>
                </a:solidFill>
                <a:effectLst/>
                <a:latin typeface="Roboto" panose="02000000000000000000" pitchFamily="2" charset="0"/>
              </a:rPr>
              <a:t> (f) – The receiver forms another message after interpreting the message and sends it back to the sender. It is known as feedback.</a:t>
            </a:r>
          </a:p>
          <a:p>
            <a:pPr algn="l" fontAlgn="base">
              <a:buFont typeface="Arial" panose="020B0604020202020204" pitchFamily="34" charset="0"/>
              <a:buChar char="•"/>
            </a:pPr>
            <a:r>
              <a:rPr lang="en-US" sz="2000" b="1" i="0" dirty="0">
                <a:solidFill>
                  <a:schemeClr val="tx1"/>
                </a:solidFill>
                <a:effectLst/>
                <a:latin typeface="inherit"/>
              </a:rPr>
              <a:t>Gatekeeper</a:t>
            </a:r>
            <a:r>
              <a:rPr lang="en-US" sz="2000" b="1" i="0" dirty="0">
                <a:solidFill>
                  <a:schemeClr val="tx1"/>
                </a:solidFill>
                <a:effectLst/>
                <a:latin typeface="Roboto" panose="02000000000000000000" pitchFamily="2" charset="0"/>
              </a:rPr>
              <a:t> (C) – </a:t>
            </a:r>
            <a:r>
              <a:rPr lang="en-US" sz="2000" b="1" i="0" u="none" strike="noStrike" dirty="0">
                <a:solidFill>
                  <a:schemeClr val="tx1"/>
                </a:solidFill>
                <a:effectLst/>
                <a:latin typeface="Roboto" panose="02000000000000000000" pitchFamily="2" charset="0"/>
                <a:hlinkClick r:id="rId2" tooltip="Gatekeeping Theory">
                  <a:extLst>
                    <a:ext uri="{A12FA001-AC4F-418D-AE19-62706E023703}">
                      <ahyp:hlinkClr xmlns:ahyp="http://schemas.microsoft.com/office/drawing/2018/hyperlinkcolor" val="tx"/>
                    </a:ext>
                  </a:extLst>
                </a:hlinkClick>
              </a:rPr>
              <a:t>Gatekeepers </a:t>
            </a:r>
            <a:r>
              <a:rPr lang="en-US" sz="2000" b="1" i="0" dirty="0">
                <a:solidFill>
                  <a:schemeClr val="tx1"/>
                </a:solidFill>
                <a:effectLst/>
                <a:latin typeface="Roboto" panose="02000000000000000000" pitchFamily="2" charset="0"/>
              </a:rPr>
              <a:t>are found in mass communication. The gatekeeper is the editor who filters the message as per the needs of the audience and media institution.</a:t>
            </a:r>
          </a:p>
          <a:p>
            <a:pPr algn="l" fontAlgn="base">
              <a:buFont typeface="Arial" panose="020B0604020202020204" pitchFamily="34" charset="0"/>
              <a:buChar char="•"/>
            </a:pPr>
            <a:r>
              <a:rPr lang="en-US" sz="2000" b="1" i="0" dirty="0">
                <a:solidFill>
                  <a:schemeClr val="tx1"/>
                </a:solidFill>
                <a:effectLst/>
                <a:latin typeface="inherit"/>
              </a:rPr>
              <a:t>Opinion Leader </a:t>
            </a:r>
            <a:r>
              <a:rPr lang="en-US" sz="2000" b="1" i="0" dirty="0">
                <a:solidFill>
                  <a:schemeClr val="tx1"/>
                </a:solidFill>
                <a:effectLst/>
                <a:latin typeface="Roboto" panose="02000000000000000000" pitchFamily="2" charset="0"/>
              </a:rPr>
              <a:t>– Opinion leaders are well known and recognized people who can influence public opinions.</a:t>
            </a:r>
          </a:p>
          <a:p>
            <a:endParaRPr lang="en-US" dirty="0"/>
          </a:p>
        </p:txBody>
      </p:sp>
    </p:spTree>
    <p:extLst>
      <p:ext uri="{BB962C8B-B14F-4D97-AF65-F5344CB8AC3E}">
        <p14:creationId xmlns:p14="http://schemas.microsoft.com/office/powerpoint/2010/main" val="2112233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C75D0-05B2-45D8-9B22-A1F2B5DD9F13}"/>
              </a:ext>
            </a:extLst>
          </p:cNvPr>
          <p:cNvSpPr>
            <a:spLocks noGrp="1"/>
          </p:cNvSpPr>
          <p:nvPr>
            <p:ph type="title"/>
          </p:nvPr>
        </p:nvSpPr>
        <p:spPr/>
        <p:txBody>
          <a:bodyPr>
            <a:normAutofit fontScale="90000"/>
          </a:bodyPr>
          <a:lstStyle/>
          <a:p>
            <a:r>
              <a:rPr lang="en-US" dirty="0">
                <a:solidFill>
                  <a:schemeClr val="tx1"/>
                </a:solidFill>
              </a:rPr>
              <a:t>Model of Communication: Westley and Maclean</a:t>
            </a:r>
            <a:endParaRPr lang="en-US" dirty="0"/>
          </a:p>
        </p:txBody>
      </p:sp>
      <p:sp>
        <p:nvSpPr>
          <p:cNvPr id="3" name="Content Placeholder 2">
            <a:extLst>
              <a:ext uri="{FF2B5EF4-FFF2-40B4-BE49-F238E27FC236}">
                <a16:creationId xmlns:a16="http://schemas.microsoft.com/office/drawing/2014/main" id="{04E6DBE4-AFC9-4C4B-A25E-69D172C349FF}"/>
              </a:ext>
            </a:extLst>
          </p:cNvPr>
          <p:cNvSpPr>
            <a:spLocks noGrp="1"/>
          </p:cNvSpPr>
          <p:nvPr>
            <p:ph idx="1"/>
          </p:nvPr>
        </p:nvSpPr>
        <p:spPr>
          <a:xfrm>
            <a:off x="550862" y="1406769"/>
            <a:ext cx="11090275" cy="4686055"/>
          </a:xfrm>
        </p:spPr>
        <p:txBody>
          <a:bodyPr>
            <a:normAutofit/>
          </a:bodyPr>
          <a:lstStyle/>
          <a:p>
            <a:pPr algn="l" fontAlgn="base"/>
            <a:r>
              <a:rPr lang="en-US" b="0" i="0" dirty="0">
                <a:solidFill>
                  <a:schemeClr val="tx1"/>
                </a:solidFill>
                <a:effectLst/>
                <a:latin typeface="Roboto" panose="02000000000000000000" pitchFamily="2" charset="0"/>
              </a:rPr>
              <a:t>Example of Westley and MacLean’s Model of Communication</a:t>
            </a:r>
          </a:p>
          <a:p>
            <a:pPr algn="l" fontAlgn="base"/>
            <a:r>
              <a:rPr lang="en-US" b="0" i="0" dirty="0">
                <a:solidFill>
                  <a:schemeClr val="tx1"/>
                </a:solidFill>
                <a:effectLst/>
                <a:latin typeface="Roboto" panose="02000000000000000000" pitchFamily="2" charset="0"/>
              </a:rPr>
              <a:t>A person ‘A’ is going to a meeting. Thunderstorms ‘X1’ and heavy rains ‘X2’ start. The roads ‘X3’ are all blocked. ‘A’ will have to convey the message to the people who are conducting the meeting that he/she will not be reaching on time. ‘A’ can inform all others through phone.</a:t>
            </a:r>
          </a:p>
          <a:p>
            <a:pPr algn="l" fontAlgn="base"/>
            <a:r>
              <a:rPr lang="en-US" b="0" i="0" dirty="0">
                <a:solidFill>
                  <a:schemeClr val="tx1"/>
                </a:solidFill>
                <a:effectLst/>
                <a:latin typeface="Roboto" panose="02000000000000000000" pitchFamily="2" charset="0"/>
              </a:rPr>
              <a:t>Here, the message is conceived from the environmental message through the person’s sensory experience. The object of orientation of the person makes him call others because he thinks that reaching late is impolite. Sender ‘A’ creates the message as a courteous request.</a:t>
            </a:r>
          </a:p>
          <a:p>
            <a:pPr algn="l" fontAlgn="base"/>
            <a:r>
              <a:rPr lang="en-US" b="0" i="0" dirty="0">
                <a:solidFill>
                  <a:schemeClr val="tx1"/>
                </a:solidFill>
                <a:effectLst/>
                <a:latin typeface="Roboto" panose="02000000000000000000" pitchFamily="2" charset="0"/>
              </a:rPr>
              <a:t>The message is coded in a language form and is sent to the receiver ‘B’. ‘B’ interprets according to his/her own object of orientation like the receiver can still find reaching late to a meeting rude. The feedback is given accordingly.</a:t>
            </a:r>
          </a:p>
          <a:p>
            <a:endParaRPr lang="en-US" dirty="0">
              <a:solidFill>
                <a:schemeClr val="tx1"/>
              </a:solidFill>
            </a:endParaRPr>
          </a:p>
        </p:txBody>
      </p:sp>
    </p:spTree>
    <p:extLst>
      <p:ext uri="{BB962C8B-B14F-4D97-AF65-F5344CB8AC3E}">
        <p14:creationId xmlns:p14="http://schemas.microsoft.com/office/powerpoint/2010/main" val="2328275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8D823-CDFF-4072-BE59-FAAA489B327D}"/>
              </a:ext>
            </a:extLst>
          </p:cNvPr>
          <p:cNvSpPr>
            <a:spLocks noGrp="1"/>
          </p:cNvSpPr>
          <p:nvPr>
            <p:ph type="title"/>
          </p:nvPr>
        </p:nvSpPr>
        <p:spPr/>
        <p:txBody>
          <a:bodyPr>
            <a:normAutofit fontScale="90000"/>
          </a:bodyPr>
          <a:lstStyle/>
          <a:p>
            <a:r>
              <a:rPr lang="en-US" dirty="0">
                <a:solidFill>
                  <a:schemeClr val="tx1"/>
                </a:solidFill>
              </a:rPr>
              <a:t>Model of Communication: Westley and Maclean</a:t>
            </a:r>
            <a:endParaRPr lang="en-US" dirty="0"/>
          </a:p>
        </p:txBody>
      </p:sp>
      <p:sp>
        <p:nvSpPr>
          <p:cNvPr id="3" name="Content Placeholder 2">
            <a:extLst>
              <a:ext uri="{FF2B5EF4-FFF2-40B4-BE49-F238E27FC236}">
                <a16:creationId xmlns:a16="http://schemas.microsoft.com/office/drawing/2014/main" id="{CF171088-6302-40F3-A2D5-7A9FD1B18E70}"/>
              </a:ext>
            </a:extLst>
          </p:cNvPr>
          <p:cNvSpPr>
            <a:spLocks noGrp="1"/>
          </p:cNvSpPr>
          <p:nvPr>
            <p:ph idx="1"/>
          </p:nvPr>
        </p:nvSpPr>
        <p:spPr/>
        <p:txBody>
          <a:bodyPr>
            <a:normAutofit/>
          </a:bodyPr>
          <a:lstStyle/>
          <a:p>
            <a:pPr algn="l"/>
            <a:r>
              <a:rPr lang="en-US" b="0" i="0" dirty="0">
                <a:solidFill>
                  <a:schemeClr val="tx1"/>
                </a:solidFill>
                <a:effectLst/>
                <a:latin typeface="Georgia" panose="02040502050405020303" pitchFamily="18" charset="0"/>
              </a:rPr>
              <a:t>Daily News Papers will receive many Press releases from Many Public Relations Agencies on behalf of their clients. In this case, News paper will publish the selected Press release due to the space constraints. Then, Readers can directly respond to the client or they can respond to the News daily which published in the Newspaper. If Readers responded to daily News paper, it will communicate the feedback to concern PR Agency.</a:t>
            </a:r>
          </a:p>
          <a:p>
            <a:pPr algn="l"/>
            <a:r>
              <a:rPr lang="en-US" b="0" i="0" dirty="0">
                <a:solidFill>
                  <a:schemeClr val="tx1"/>
                </a:solidFill>
                <a:effectLst/>
                <a:latin typeface="Georgia" panose="02040502050405020303" pitchFamily="18" charset="0"/>
              </a:rPr>
              <a:t>X1, X2 and X3—are Press Release, Feedback (f), Clients (A), Reader (B) and Daily News Paper (Gate Keeper) (c)</a:t>
            </a:r>
          </a:p>
          <a:p>
            <a:pPr algn="l"/>
            <a:r>
              <a:rPr lang="en-US" b="0" i="0" dirty="0">
                <a:solidFill>
                  <a:schemeClr val="tx1"/>
                </a:solidFill>
                <a:effectLst/>
                <a:latin typeface="Georgia" panose="02040502050405020303" pitchFamily="18" charset="0"/>
              </a:rPr>
              <a:t>1.    Feedback Loop between Reader (B) and News Paper (C) – </a:t>
            </a:r>
            <a:r>
              <a:rPr lang="en-US" b="0" i="0" dirty="0" err="1">
                <a:solidFill>
                  <a:schemeClr val="tx1"/>
                </a:solidFill>
                <a:effectLst/>
                <a:latin typeface="Georgia" panose="02040502050405020303" pitchFamily="18" charset="0"/>
              </a:rPr>
              <a:t>fBC</a:t>
            </a:r>
            <a:br>
              <a:rPr lang="en-US" b="0" i="0" dirty="0">
                <a:solidFill>
                  <a:schemeClr val="tx1"/>
                </a:solidFill>
                <a:effectLst/>
                <a:latin typeface="Georgia" panose="02040502050405020303" pitchFamily="18" charset="0"/>
              </a:rPr>
            </a:br>
            <a:r>
              <a:rPr lang="en-US" b="0" i="0" dirty="0">
                <a:solidFill>
                  <a:schemeClr val="tx1"/>
                </a:solidFill>
                <a:effectLst/>
                <a:latin typeface="Georgia" panose="02040502050405020303" pitchFamily="18" charset="0"/>
              </a:rPr>
              <a:t>2.    Feedback Loop between News Paper(C ) and Client (A)- </a:t>
            </a:r>
            <a:r>
              <a:rPr lang="en-US" b="0" i="0" dirty="0" err="1">
                <a:solidFill>
                  <a:schemeClr val="tx1"/>
                </a:solidFill>
                <a:effectLst/>
                <a:latin typeface="Georgia" panose="02040502050405020303" pitchFamily="18" charset="0"/>
              </a:rPr>
              <a:t>fCA</a:t>
            </a:r>
            <a:br>
              <a:rPr lang="en-US" b="0" i="0" dirty="0">
                <a:solidFill>
                  <a:schemeClr val="tx1"/>
                </a:solidFill>
                <a:effectLst/>
                <a:latin typeface="Georgia" panose="02040502050405020303" pitchFamily="18" charset="0"/>
              </a:rPr>
            </a:br>
            <a:r>
              <a:rPr lang="en-US" b="0" i="0" dirty="0">
                <a:solidFill>
                  <a:schemeClr val="tx1"/>
                </a:solidFill>
                <a:effectLst/>
                <a:latin typeface="Georgia" panose="02040502050405020303" pitchFamily="18" charset="0"/>
              </a:rPr>
              <a:t>3.    Feedback loop between Reader (B) and Client (A)- </a:t>
            </a:r>
            <a:r>
              <a:rPr lang="en-US" b="0" i="0" dirty="0" err="1">
                <a:solidFill>
                  <a:schemeClr val="tx1"/>
                </a:solidFill>
                <a:effectLst/>
                <a:latin typeface="Georgia" panose="02040502050405020303" pitchFamily="18" charset="0"/>
              </a:rPr>
              <a:t>fBA</a:t>
            </a:r>
            <a:endParaRPr lang="en-US" b="0" i="0" dirty="0">
              <a:solidFill>
                <a:schemeClr val="tx1"/>
              </a:solidFill>
              <a:effectLst/>
              <a:latin typeface="Georgia" panose="02040502050405020303" pitchFamily="18" charset="0"/>
            </a:endParaRPr>
          </a:p>
          <a:p>
            <a:endParaRPr lang="en-US" b="0" i="0" dirty="0">
              <a:solidFill>
                <a:schemeClr val="tx1"/>
              </a:solidFill>
              <a:effectLst/>
              <a:latin typeface="Roboto" panose="02000000000000000000" pitchFamily="2" charset="0"/>
            </a:endParaRPr>
          </a:p>
          <a:p>
            <a:endParaRPr lang="en-US" dirty="0">
              <a:solidFill>
                <a:schemeClr val="tx1"/>
              </a:solidFill>
            </a:endParaRPr>
          </a:p>
        </p:txBody>
      </p:sp>
    </p:spTree>
    <p:extLst>
      <p:ext uri="{BB962C8B-B14F-4D97-AF65-F5344CB8AC3E}">
        <p14:creationId xmlns:p14="http://schemas.microsoft.com/office/powerpoint/2010/main" val="2067444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DEC2A-F01C-4A17-B7CF-829F4E9C07A4}"/>
              </a:ext>
            </a:extLst>
          </p:cNvPr>
          <p:cNvSpPr>
            <a:spLocks noGrp="1"/>
          </p:cNvSpPr>
          <p:nvPr>
            <p:ph type="title"/>
          </p:nvPr>
        </p:nvSpPr>
        <p:spPr>
          <a:xfrm>
            <a:off x="550200" y="107187"/>
            <a:ext cx="11091600" cy="1332000"/>
          </a:xfrm>
        </p:spPr>
        <p:txBody>
          <a:bodyPr>
            <a:normAutofit fontScale="90000"/>
          </a:bodyPr>
          <a:lstStyle/>
          <a:p>
            <a:r>
              <a:rPr lang="en-US" dirty="0">
                <a:solidFill>
                  <a:schemeClr val="tx1"/>
                </a:solidFill>
              </a:rPr>
              <a:t>Model of Communication: Westley and Maclean</a:t>
            </a:r>
            <a:endParaRPr lang="en-US" dirty="0"/>
          </a:p>
        </p:txBody>
      </p:sp>
      <p:sp>
        <p:nvSpPr>
          <p:cNvPr id="3" name="Content Placeholder 2">
            <a:extLst>
              <a:ext uri="{FF2B5EF4-FFF2-40B4-BE49-F238E27FC236}">
                <a16:creationId xmlns:a16="http://schemas.microsoft.com/office/drawing/2014/main" id="{ECBC0A0E-AA7A-4B3C-B533-4C62F2E3AEE6}"/>
              </a:ext>
            </a:extLst>
          </p:cNvPr>
          <p:cNvSpPr>
            <a:spLocks noGrp="1"/>
          </p:cNvSpPr>
          <p:nvPr>
            <p:ph idx="1"/>
          </p:nvPr>
        </p:nvSpPr>
        <p:spPr>
          <a:xfrm>
            <a:off x="410186" y="1439187"/>
            <a:ext cx="11090274" cy="3979625"/>
          </a:xfrm>
        </p:spPr>
        <p:txBody>
          <a:bodyPr>
            <a:noAutofit/>
          </a:bodyPr>
          <a:lstStyle/>
          <a:p>
            <a:r>
              <a:rPr lang="en-US" b="1" u="sng" dirty="0">
                <a:solidFill>
                  <a:schemeClr val="tx1"/>
                </a:solidFill>
                <a:effectLst/>
                <a:latin typeface="Georgia" panose="02040502050405020303" pitchFamily="18" charset="0"/>
              </a:rPr>
              <a:t>Merits and Demerits</a:t>
            </a:r>
            <a:r>
              <a:rPr lang="en-US" dirty="0">
                <a:solidFill>
                  <a:schemeClr val="tx1"/>
                </a:solidFill>
                <a:effectLst/>
                <a:latin typeface="Georgia" panose="02040502050405020303" pitchFamily="18" charset="0"/>
              </a:rPr>
              <a:t>:</a:t>
            </a:r>
          </a:p>
          <a:p>
            <a:pPr>
              <a:buFont typeface="Arial" panose="020B0604020202020204" pitchFamily="34" charset="0"/>
              <a:buChar char="•"/>
            </a:pPr>
            <a:r>
              <a:rPr lang="en-US" dirty="0">
                <a:solidFill>
                  <a:schemeClr val="tx1"/>
                </a:solidFill>
                <a:effectLst/>
                <a:latin typeface="Georgia" panose="02040502050405020303" pitchFamily="18" charset="0"/>
              </a:rPr>
              <a:t>This model accounts for Feedback.</a:t>
            </a:r>
          </a:p>
          <a:p>
            <a:pPr>
              <a:buFont typeface="Arial" panose="020B0604020202020204" pitchFamily="34" charset="0"/>
              <a:buChar char="•"/>
            </a:pPr>
            <a:r>
              <a:rPr lang="en-US" dirty="0">
                <a:solidFill>
                  <a:schemeClr val="tx1"/>
                </a:solidFill>
                <a:effectLst/>
                <a:latin typeface="Georgia" panose="02040502050405020303" pitchFamily="18" charset="0"/>
              </a:rPr>
              <a:t>It can account for different modes of communication, i.e., for both interpersonal communication and Mass communication.</a:t>
            </a:r>
          </a:p>
          <a:p>
            <a:pPr>
              <a:buFont typeface="Arial" panose="020B0604020202020204" pitchFamily="34" charset="0"/>
              <a:buChar char="•"/>
            </a:pPr>
            <a:r>
              <a:rPr lang="en-US" dirty="0">
                <a:solidFill>
                  <a:schemeClr val="tx1"/>
                </a:solidFill>
                <a:effectLst/>
                <a:latin typeface="Georgia" panose="02040502050405020303" pitchFamily="18" charset="0"/>
              </a:rPr>
              <a:t>It is a predictive model of communication and very descriptive also.</a:t>
            </a:r>
          </a:p>
          <a:p>
            <a:pPr>
              <a:buFont typeface="Arial" panose="020B0604020202020204" pitchFamily="34" charset="0"/>
              <a:buChar char="•"/>
            </a:pPr>
            <a:r>
              <a:rPr lang="en-US" dirty="0">
                <a:solidFill>
                  <a:schemeClr val="tx1"/>
                </a:solidFill>
                <a:effectLst/>
                <a:latin typeface="Georgia" panose="02040502050405020303" pitchFamily="18" charset="0"/>
              </a:rPr>
              <a:t>It also account for non binary interactions, this means that it will remain good even for communications involving more than two sources.</a:t>
            </a:r>
          </a:p>
          <a:p>
            <a:pPr>
              <a:buFont typeface="Arial" panose="020B0604020202020204" pitchFamily="34" charset="0"/>
              <a:buChar char="•"/>
            </a:pPr>
            <a:r>
              <a:rPr lang="en-US" dirty="0">
                <a:solidFill>
                  <a:schemeClr val="tx1"/>
                </a:solidFill>
                <a:effectLst/>
                <a:latin typeface="Georgia" panose="02040502050405020303" pitchFamily="18" charset="0"/>
              </a:rPr>
              <a:t>Westley and Maclean communication model is Two Dimensional.</a:t>
            </a:r>
          </a:p>
          <a:p>
            <a:pPr>
              <a:buFont typeface="Arial" panose="020B0604020202020204" pitchFamily="34" charset="0"/>
              <a:buChar char="•"/>
            </a:pPr>
            <a:r>
              <a:rPr lang="en-US" dirty="0">
                <a:solidFill>
                  <a:schemeClr val="tx1"/>
                </a:solidFill>
                <a:latin typeface="Georgia" panose="02040502050405020303" pitchFamily="18" charset="0"/>
              </a:rPr>
              <a:t>Too complicated for involving numerous elements in it. </a:t>
            </a:r>
            <a:endParaRPr lang="en-US" dirty="0">
              <a:solidFill>
                <a:schemeClr val="tx1"/>
              </a:solidFill>
              <a:effectLst/>
              <a:latin typeface="Georgia" panose="02040502050405020303" pitchFamily="18" charset="0"/>
            </a:endParaRPr>
          </a:p>
          <a:p>
            <a:pPr>
              <a:buFont typeface="Arial" panose="020B0604020202020204" pitchFamily="34" charset="0"/>
              <a:buChar char="•"/>
            </a:pPr>
            <a:r>
              <a:rPr lang="en-US" dirty="0">
                <a:solidFill>
                  <a:schemeClr val="tx1"/>
                </a:solidFill>
                <a:effectLst/>
                <a:latin typeface="Georgia" panose="02040502050405020303" pitchFamily="18" charset="0"/>
              </a:rPr>
              <a:t>It cannot account for multi dimensions; this means this model will not be applicable for typical communication events that involve broader context and wide range of communication messages.</a:t>
            </a:r>
          </a:p>
          <a:p>
            <a:pPr algn="l"/>
            <a:r>
              <a:rPr lang="en-US" b="0" u="none" strike="noStrike" dirty="0">
                <a:solidFill>
                  <a:srgbClr val="0066FF"/>
                </a:solidFill>
                <a:effectLst/>
                <a:latin typeface="Georgia" panose="02040502050405020303" pitchFamily="18" charset="0"/>
                <a:hlinkClick r:id="rId2">
                  <a:extLst>
                    <a:ext uri="{A12FA001-AC4F-418D-AE19-62706E023703}">
                      <ahyp:hlinkClr xmlns:ahyp="http://schemas.microsoft.com/office/drawing/2018/hyperlinkcolor" val="tx"/>
                    </a:ext>
                  </a:extLst>
                </a:hlinkClick>
              </a:rPr>
              <a:t>2</a:t>
            </a:r>
          </a:p>
          <a:p>
            <a:br>
              <a:rPr lang="en-US" b="0" u="none" strike="noStrike" dirty="0">
                <a:solidFill>
                  <a:schemeClr val="tx1"/>
                </a:solidFill>
                <a:effectLst/>
                <a:latin typeface="Georgia" panose="02040502050405020303" pitchFamily="18" charset="0"/>
                <a:hlinkClick r:id="rId2">
                  <a:extLst>
                    <a:ext uri="{A12FA001-AC4F-418D-AE19-62706E023703}">
                      <ahyp:hlinkClr xmlns:ahyp="http://schemas.microsoft.com/office/drawing/2018/hyperlinkcolor" val="tx"/>
                    </a:ext>
                  </a:extLst>
                </a:hlinkClick>
              </a:rPr>
            </a:br>
            <a:endParaRPr lang="en-US" dirty="0">
              <a:solidFill>
                <a:schemeClr val="tx1"/>
              </a:solidFill>
              <a:latin typeface="Georgia" panose="02040502050405020303" pitchFamily="18" charset="0"/>
            </a:endParaRPr>
          </a:p>
        </p:txBody>
      </p:sp>
    </p:spTree>
    <p:extLst>
      <p:ext uri="{BB962C8B-B14F-4D97-AF65-F5344CB8AC3E}">
        <p14:creationId xmlns:p14="http://schemas.microsoft.com/office/powerpoint/2010/main" val="2082792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38D39-3E68-4C34-BC61-48537733293C}"/>
              </a:ext>
            </a:extLst>
          </p:cNvPr>
          <p:cNvSpPr>
            <a:spLocks noGrp="1"/>
          </p:cNvSpPr>
          <p:nvPr>
            <p:ph type="title"/>
          </p:nvPr>
        </p:nvSpPr>
        <p:spPr/>
        <p:txBody>
          <a:bodyPr>
            <a:normAutofit/>
          </a:bodyPr>
          <a:lstStyle/>
          <a:p>
            <a:r>
              <a:rPr lang="en-US" sz="3600" dirty="0">
                <a:solidFill>
                  <a:schemeClr val="tx1"/>
                </a:solidFill>
              </a:rPr>
              <a:t>Model of Communication: Barnlund’s Transactional Model 						             of Communication</a:t>
            </a:r>
            <a:endParaRPr lang="en-US" sz="3600" dirty="0"/>
          </a:p>
        </p:txBody>
      </p:sp>
      <p:sp>
        <p:nvSpPr>
          <p:cNvPr id="3" name="Content Placeholder 2">
            <a:extLst>
              <a:ext uri="{FF2B5EF4-FFF2-40B4-BE49-F238E27FC236}">
                <a16:creationId xmlns:a16="http://schemas.microsoft.com/office/drawing/2014/main" id="{F8870C0D-DE36-4B5E-AB68-3FEAB640228A}"/>
              </a:ext>
            </a:extLst>
          </p:cNvPr>
          <p:cNvSpPr>
            <a:spLocks noGrp="1"/>
          </p:cNvSpPr>
          <p:nvPr>
            <p:ph idx="1"/>
          </p:nvPr>
        </p:nvSpPr>
        <p:spPr>
          <a:xfrm>
            <a:off x="549538" y="1704125"/>
            <a:ext cx="11090274" cy="3979625"/>
          </a:xfrm>
        </p:spPr>
        <p:txBody>
          <a:bodyPr>
            <a:normAutofit lnSpcReduction="10000"/>
          </a:bodyPr>
          <a:lstStyle/>
          <a:p>
            <a:r>
              <a:rPr lang="en-US" dirty="0">
                <a:solidFill>
                  <a:schemeClr val="tx1"/>
                </a:solidFill>
              </a:rPr>
              <a:t>The 1970 model of transactional communication proposed by Dean Barnlund. </a:t>
            </a:r>
          </a:p>
          <a:p>
            <a:r>
              <a:rPr lang="en-US" dirty="0">
                <a:solidFill>
                  <a:schemeClr val="tx1"/>
                </a:solidFill>
              </a:rPr>
              <a:t>It articulates that sending of the message as well as receiving it happen simultaneously.</a:t>
            </a:r>
          </a:p>
          <a:p>
            <a:r>
              <a:rPr lang="en-US" b="0" i="0" dirty="0">
                <a:solidFill>
                  <a:schemeClr val="tx1"/>
                </a:solidFill>
                <a:effectLst/>
                <a:latin typeface="Georgia" panose="02040502050405020303" pitchFamily="18" charset="0"/>
              </a:rPr>
              <a:t>This is a continuous process where sender and receiver interchanges their places</a:t>
            </a:r>
            <a:r>
              <a:rPr lang="en-US" dirty="0">
                <a:solidFill>
                  <a:schemeClr val="tx1"/>
                </a:solidFill>
                <a:latin typeface="Georgia" panose="02040502050405020303" pitchFamily="18" charset="0"/>
              </a:rPr>
              <a:t>, </a:t>
            </a:r>
            <a:r>
              <a:rPr lang="en-US" b="0" i="0" dirty="0">
                <a:solidFill>
                  <a:schemeClr val="tx1"/>
                </a:solidFill>
                <a:effectLst/>
                <a:latin typeface="Georgia" panose="02040502050405020303" pitchFamily="18" charset="0"/>
              </a:rPr>
              <a:t>and both are equally important. The message passing takes place with a constant feedback being provided from both parties. A feedback for one is the message for the other. In other words, it is a reciprocal process.</a:t>
            </a:r>
          </a:p>
          <a:p>
            <a:r>
              <a:rPr lang="en-US" dirty="0">
                <a:solidFill>
                  <a:schemeClr val="tx1"/>
                </a:solidFill>
                <a:latin typeface="Georgia" panose="02040502050405020303" pitchFamily="18" charset="0"/>
              </a:rPr>
              <a:t>This model is made up of public, private and behavioral cues. </a:t>
            </a:r>
          </a:p>
          <a:p>
            <a:r>
              <a:rPr lang="en-US" dirty="0">
                <a:solidFill>
                  <a:schemeClr val="tx1"/>
                </a:solidFill>
                <a:latin typeface="Georgia" panose="02040502050405020303" pitchFamily="18" charset="0"/>
              </a:rPr>
              <a:t>(cues: signs for doing something/ public cues: physical/environmental/artificial, private cues : senses of a person both verbal and non-verbal, behavioral: both non-verbal and verbal)</a:t>
            </a:r>
          </a:p>
          <a:p>
            <a:endParaRPr lang="en-US" dirty="0">
              <a:solidFill>
                <a:schemeClr val="tx1"/>
              </a:solidFill>
            </a:endParaRPr>
          </a:p>
        </p:txBody>
      </p:sp>
    </p:spTree>
    <p:extLst>
      <p:ext uri="{BB962C8B-B14F-4D97-AF65-F5344CB8AC3E}">
        <p14:creationId xmlns:p14="http://schemas.microsoft.com/office/powerpoint/2010/main" val="215597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Communication - Growth as a Learner and an Educator: A Master&amp;#39;s Portfolio">
            <a:extLst>
              <a:ext uri="{FF2B5EF4-FFF2-40B4-BE49-F238E27FC236}">
                <a16:creationId xmlns:a16="http://schemas.microsoft.com/office/drawing/2014/main" id="{D332FDD6-E5FE-40D3-8964-2394F5B4AA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0180" y="2109544"/>
            <a:ext cx="10285000" cy="395924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A0B4A250-EACE-4E19-B8A5-8BEF9A6291AE}"/>
              </a:ext>
            </a:extLst>
          </p:cNvPr>
          <p:cNvSpPr txBox="1"/>
          <p:nvPr/>
        </p:nvSpPr>
        <p:spPr>
          <a:xfrm>
            <a:off x="432269" y="789215"/>
            <a:ext cx="10682910" cy="968605"/>
          </a:xfrm>
          <a:prstGeom prst="rect">
            <a:avLst/>
          </a:prstGeom>
          <a:noFill/>
        </p:spPr>
        <p:txBody>
          <a:bodyPr wrap="square">
            <a:spAutoFit/>
          </a:bodyPr>
          <a:lstStyle/>
          <a:p>
            <a:pPr algn="ctr"/>
            <a:r>
              <a:rPr lang="en-US" sz="2800" dirty="0">
                <a:solidFill>
                  <a:schemeClr val="tx1"/>
                </a:solidFill>
                <a:latin typeface="+mj-lt"/>
              </a:rPr>
              <a:t>Model of Communication: Barnlund’s Transactional Model 						             of Communication</a:t>
            </a:r>
            <a:endParaRPr lang="en-US" sz="2800" dirty="0">
              <a:latin typeface="+mj-lt"/>
            </a:endParaRPr>
          </a:p>
        </p:txBody>
      </p:sp>
    </p:spTree>
    <p:extLst>
      <p:ext uri="{BB962C8B-B14F-4D97-AF65-F5344CB8AC3E}">
        <p14:creationId xmlns:p14="http://schemas.microsoft.com/office/powerpoint/2010/main" val="703728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DE3CC-F407-49D3-AF4F-353E8EC6CF19}"/>
              </a:ext>
            </a:extLst>
          </p:cNvPr>
          <p:cNvSpPr>
            <a:spLocks noGrp="1"/>
          </p:cNvSpPr>
          <p:nvPr>
            <p:ph type="title"/>
          </p:nvPr>
        </p:nvSpPr>
        <p:spPr/>
        <p:txBody>
          <a:bodyPr>
            <a:normAutofit/>
          </a:bodyPr>
          <a:lstStyle/>
          <a:p>
            <a:r>
              <a:rPr lang="en-US" sz="4000" dirty="0">
                <a:solidFill>
                  <a:schemeClr val="tx1"/>
                </a:solidFill>
              </a:rPr>
              <a:t>Model of Communication: Dance's Helical Model </a:t>
            </a:r>
            <a:endParaRPr lang="en-US" sz="4000" dirty="0"/>
          </a:p>
        </p:txBody>
      </p:sp>
      <p:sp>
        <p:nvSpPr>
          <p:cNvPr id="3" name="Content Placeholder 2">
            <a:extLst>
              <a:ext uri="{FF2B5EF4-FFF2-40B4-BE49-F238E27FC236}">
                <a16:creationId xmlns:a16="http://schemas.microsoft.com/office/drawing/2014/main" id="{00A4EACB-CAC6-4936-9700-CEA85B848E45}"/>
              </a:ext>
            </a:extLst>
          </p:cNvPr>
          <p:cNvSpPr>
            <a:spLocks noGrp="1"/>
          </p:cNvSpPr>
          <p:nvPr>
            <p:ph idx="1"/>
          </p:nvPr>
        </p:nvSpPr>
        <p:spPr/>
        <p:txBody>
          <a:bodyPr>
            <a:normAutofit/>
          </a:bodyPr>
          <a:lstStyle/>
          <a:p>
            <a:endParaRPr lang="en-US" dirty="0">
              <a:solidFill>
                <a:schemeClr val="tx1"/>
              </a:solidFill>
              <a:latin typeface="Georgia" panose="02040502050405020303" pitchFamily="18" charset="0"/>
            </a:endParaRPr>
          </a:p>
          <a:p>
            <a:r>
              <a:rPr lang="en-US" dirty="0">
                <a:solidFill>
                  <a:schemeClr val="tx1"/>
                </a:solidFill>
                <a:latin typeface="Georgia" panose="02040502050405020303" pitchFamily="18" charset="0"/>
              </a:rPr>
              <a:t>Frank Dance proposed the model of Helix communication in 1967.</a:t>
            </a:r>
          </a:p>
          <a:p>
            <a:pPr algn="l" fontAlgn="base"/>
            <a:r>
              <a:rPr lang="en-US" b="0" i="0" dirty="0">
                <a:solidFill>
                  <a:schemeClr val="tx1"/>
                </a:solidFill>
                <a:effectLst/>
                <a:latin typeface="Georgia" panose="02040502050405020303" pitchFamily="18" charset="0"/>
              </a:rPr>
              <a:t>The Helical Model of Communication, or Dance’s Helix/ Helical Model, is a communication model in which communication is explained by means of a helix. The Helical Model of Communication is both linear and circular, and stands in contrast to exclusively linear models, or models based on circularity, such as the </a:t>
            </a:r>
            <a:r>
              <a:rPr lang="en-US" b="0" i="0" u="none" strike="noStrike" dirty="0">
                <a:solidFill>
                  <a:schemeClr val="tx1"/>
                </a:solidFill>
                <a:effectLst/>
                <a:latin typeface="Georgia" panose="02040502050405020303" pitchFamily="18" charset="0"/>
                <a:hlinkClick r:id="rId2">
                  <a:extLst>
                    <a:ext uri="{A12FA001-AC4F-418D-AE19-62706E023703}">
                      <ahyp:hlinkClr xmlns:ahyp="http://schemas.microsoft.com/office/drawing/2018/hyperlinkcolor" val="tx"/>
                    </a:ext>
                  </a:extLst>
                </a:hlinkClick>
              </a:rPr>
              <a:t>Aristotle’s communication model</a:t>
            </a:r>
            <a:r>
              <a:rPr lang="en-US" b="0" i="0" dirty="0">
                <a:solidFill>
                  <a:schemeClr val="tx1"/>
                </a:solidFill>
                <a:effectLst/>
                <a:latin typeface="Georgia" panose="02040502050405020303" pitchFamily="18" charset="0"/>
              </a:rPr>
              <a:t>, or </a:t>
            </a:r>
            <a:r>
              <a:rPr lang="en-US" b="0" i="0" u="none" strike="noStrike" dirty="0">
                <a:solidFill>
                  <a:schemeClr val="tx1"/>
                </a:solidFill>
                <a:effectLst/>
                <a:latin typeface="Georgia" panose="02040502050405020303" pitchFamily="18" charset="0"/>
                <a:hlinkClick r:id="rId3">
                  <a:extLst>
                    <a:ext uri="{A12FA001-AC4F-418D-AE19-62706E023703}">
                      <ahyp:hlinkClr xmlns:ahyp="http://schemas.microsoft.com/office/drawing/2018/hyperlinkcolor" val="tx"/>
                    </a:ext>
                  </a:extLst>
                </a:hlinkClick>
              </a:rPr>
              <a:t>Berlo’s SBSW model</a:t>
            </a:r>
            <a:r>
              <a:rPr lang="en-US" b="0" i="0" dirty="0">
                <a:solidFill>
                  <a:schemeClr val="tx1"/>
                </a:solidFill>
                <a:effectLst/>
                <a:latin typeface="Georgia" panose="02040502050405020303" pitchFamily="18" charset="0"/>
              </a:rPr>
              <a:t>.</a:t>
            </a:r>
          </a:p>
          <a:p>
            <a:br>
              <a:rPr lang="en-US" dirty="0">
                <a:solidFill>
                  <a:schemeClr val="tx1"/>
                </a:solidFill>
                <a:latin typeface="Georgia" panose="02040502050405020303" pitchFamily="18" charset="0"/>
              </a:rPr>
            </a:br>
            <a:endParaRPr lang="en-US" dirty="0">
              <a:solidFill>
                <a:schemeClr val="tx1"/>
              </a:solidFill>
              <a:latin typeface="Georgia" panose="02040502050405020303" pitchFamily="18" charset="0"/>
            </a:endParaRPr>
          </a:p>
        </p:txBody>
      </p:sp>
    </p:spTree>
    <p:extLst>
      <p:ext uri="{BB962C8B-B14F-4D97-AF65-F5344CB8AC3E}">
        <p14:creationId xmlns:p14="http://schemas.microsoft.com/office/powerpoint/2010/main" val="1226553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F1E8-1F74-422F-BB71-A56FA5A6DC89}"/>
              </a:ext>
            </a:extLst>
          </p:cNvPr>
          <p:cNvSpPr>
            <a:spLocks noGrp="1"/>
          </p:cNvSpPr>
          <p:nvPr>
            <p:ph type="title"/>
          </p:nvPr>
        </p:nvSpPr>
        <p:spPr/>
        <p:txBody>
          <a:bodyPr>
            <a:normAutofit fontScale="90000"/>
          </a:bodyPr>
          <a:lstStyle/>
          <a:p>
            <a:r>
              <a:rPr lang="en-US" sz="4800" dirty="0">
                <a:solidFill>
                  <a:schemeClr val="tx1"/>
                </a:solidFill>
              </a:rPr>
              <a:t>Model of Communication: Dance's Helical Model </a:t>
            </a:r>
            <a:endParaRPr lang="en-US" dirty="0"/>
          </a:p>
        </p:txBody>
      </p:sp>
      <p:pic>
        <p:nvPicPr>
          <p:cNvPr id="9218" name="Picture 2">
            <a:extLst>
              <a:ext uri="{FF2B5EF4-FFF2-40B4-BE49-F238E27FC236}">
                <a16:creationId xmlns:a16="http://schemas.microsoft.com/office/drawing/2014/main" id="{11A7A613-CA72-432A-A39B-3CE1CDA3217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0862" y="2177716"/>
            <a:ext cx="5035040" cy="31533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9CC3F25-602F-45AA-AC8C-5E49DC4E6306}"/>
              </a:ext>
            </a:extLst>
          </p:cNvPr>
          <p:cNvSpPr txBox="1"/>
          <p:nvPr/>
        </p:nvSpPr>
        <p:spPr>
          <a:xfrm>
            <a:off x="5859379" y="2562726"/>
            <a:ext cx="5781759" cy="1754326"/>
          </a:xfrm>
          <a:prstGeom prst="rect">
            <a:avLst/>
          </a:prstGeom>
          <a:noFill/>
        </p:spPr>
        <p:txBody>
          <a:bodyPr wrap="square" rtlCol="0">
            <a:spAutoFit/>
          </a:bodyPr>
          <a:lstStyle/>
          <a:p>
            <a:r>
              <a:rPr lang="en-US" dirty="0"/>
              <a:t>Communication , when it begins is small that means communicators share a little information in the initial phase. </a:t>
            </a:r>
          </a:p>
          <a:p>
            <a:r>
              <a:rPr lang="en-US" dirty="0"/>
              <a:t>It gradually develops and the communicators share more information with the passage of time.</a:t>
            </a:r>
          </a:p>
          <a:p>
            <a:endParaRPr lang="en-US" dirty="0"/>
          </a:p>
        </p:txBody>
      </p:sp>
    </p:spTree>
    <p:extLst>
      <p:ext uri="{BB962C8B-B14F-4D97-AF65-F5344CB8AC3E}">
        <p14:creationId xmlns:p14="http://schemas.microsoft.com/office/powerpoint/2010/main" val="3643280888"/>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Sitka Heading"/>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471</TotalTime>
  <Words>1806</Words>
  <Application>Microsoft Office PowerPoint</Application>
  <PresentationFormat>Widescreen</PresentationFormat>
  <Paragraphs>127</Paragraphs>
  <Slides>26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Georgia</vt:lpstr>
      <vt:lpstr>inherit</vt:lpstr>
      <vt:lpstr>Roboto</vt:lpstr>
      <vt:lpstr>Sitka Heading</vt:lpstr>
      <vt:lpstr>Source Sans Pro</vt:lpstr>
      <vt:lpstr>Tahoma</vt:lpstr>
      <vt:lpstr>3DFloatVTI</vt:lpstr>
      <vt:lpstr>Models of communication </vt:lpstr>
      <vt:lpstr>Models of Communication </vt:lpstr>
      <vt:lpstr>Models of Communication </vt:lpstr>
      <vt:lpstr>Models of Communication  Based on the fundamental models of communication, there were developed some more models of communication, like  </vt:lpstr>
      <vt:lpstr>Models of Communication: Aristotle’s Model </vt:lpstr>
      <vt:lpstr>Aristotle and Communication:</vt:lpstr>
      <vt:lpstr>Models of Communication: Laswell Model </vt:lpstr>
      <vt:lpstr>Models of Communication: Laswell Model </vt:lpstr>
      <vt:lpstr>Models of Communication: Shannon-Weaver</vt:lpstr>
      <vt:lpstr>Models of Communication: Shannon-Weaver</vt:lpstr>
      <vt:lpstr>Models of Communication: Berlo’s S-M-C-R Model </vt:lpstr>
      <vt:lpstr>Berlo’s S-M-C-R Model of Communication</vt:lpstr>
      <vt:lpstr>Models of Communication: Osgood-Schramm</vt:lpstr>
      <vt:lpstr>Osgood- Schramm Model of Communication:</vt:lpstr>
      <vt:lpstr>Model of Communication: Westley and Maclean</vt:lpstr>
      <vt:lpstr>Model of Communication: Westley and Maclean </vt:lpstr>
      <vt:lpstr>Model of Communication: Westley and Maclean</vt:lpstr>
      <vt:lpstr>Model of Communication: Westley and Maclean</vt:lpstr>
      <vt:lpstr>Model of Communication: Westley and Maclean</vt:lpstr>
      <vt:lpstr>Model of Communication: Westley and Maclean</vt:lpstr>
      <vt:lpstr>Model of Communication: Westley and Maclean</vt:lpstr>
      <vt:lpstr>Model of Communication: Westley and Maclean</vt:lpstr>
      <vt:lpstr>Model of Communication: Barnlund’s Transactional Model                    of Communication</vt:lpstr>
      <vt:lpstr>PowerPoint Presentation</vt:lpstr>
      <vt:lpstr>Model of Communication: Dance's Helical Model </vt:lpstr>
      <vt:lpstr>Model of Communication: Dance's Helical 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Models of communication</dc:title>
  <dc:creator>Deepti Pravin Mandlik</dc:creator>
  <cp:lastModifiedBy>Deepti Mandlik</cp:lastModifiedBy>
  <cp:revision>5</cp:revision>
  <dcterms:created xsi:type="dcterms:W3CDTF">2021-10-03T12:23:50Z</dcterms:created>
  <dcterms:modified xsi:type="dcterms:W3CDTF">2026-10-10T10:31:06Z</dcterms:modified>
</cp:coreProperties>
</file>