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Default Extension="xlsx" ContentType="application/vnd.openxmlformats-officedocument.spreadsheetml.sheet"/>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3" r:id="rId5"/>
    <p:sldId id="264" r:id="rId6"/>
    <p:sldId id="265" r:id="rId7"/>
    <p:sldId id="267" r:id="rId8"/>
    <p:sldId id="268" r:id="rId9"/>
    <p:sldId id="269" r:id="rId10"/>
    <p:sldId id="270" r:id="rId11"/>
    <p:sldId id="271" r:id="rId12"/>
    <p:sldId id="27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000" autoAdjust="0"/>
    <p:restoredTop sz="94660"/>
  </p:normalViewPr>
  <p:slideViewPr>
    <p:cSldViewPr snapToGrid="0">
      <p:cViewPr>
        <p:scale>
          <a:sx n="77" d="100"/>
          <a:sy n="77" d="100"/>
        </p:scale>
        <p:origin x="-462" y="-1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1E1DCCD-BC8F-4646-B89C-482CE2C1FCEF}" type="datetimeFigureOut">
              <a:rPr lang="en-IN" smtClean="0"/>
              <a:pPr/>
              <a:t>06-10-2026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3D660-E575-4D11-AB71-004F339A08D2}" type="slidenum">
              <a:rPr lang="en-IN" smtClean="0"/>
              <a:pPr/>
              <a:t>‹#›</a:t>
            </a:fld>
            <a:endParaRPr lang="en-IN"/>
          </a:p>
        </p:txBody>
      </p:sp>
      <p:pic>
        <p:nvPicPr>
          <p:cNvPr id="7" name="Picture 2" descr="Untitled">
            <a:extLst>
              <a:ext uri="{FF2B5EF4-FFF2-40B4-BE49-F238E27FC236}">
                <a16:creationId xmlns="" xmlns:a16="http://schemas.microsoft.com/office/drawing/2014/main" id="{D93066BC-3BE5-7D5E-89A3-58423591EE9C}"/>
              </a:ext>
            </a:extLst>
          </p:cNvPr>
          <p:cNvPicPr>
            <a:picLocks noChangeAspect="1" noChangeArrowheads="1"/>
          </p:cNvPicPr>
          <p:nvPr userDrawn="1"/>
        </p:nvPicPr>
        <p:blipFill>
          <a:blip r:embed="rId2">
            <a:extLst>
              <a:ext uri="{28A0092B-C50C-407E-A947-70E740481C1C}">
                <a14:useLocalDpi xmlns="" xmlns:a14="http://schemas.microsoft.com/office/drawing/2010/main" val="0"/>
              </a:ext>
            </a:extLst>
          </a:blip>
          <a:srcRect/>
          <a:stretch>
            <a:fillRect/>
          </a:stretch>
        </p:blipFill>
        <p:spPr bwMode="auto">
          <a:xfrm>
            <a:off x="9673637" y="5943727"/>
            <a:ext cx="2286543" cy="91427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xmlns="" val="2025327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1E1DCCD-BC8F-4646-B89C-482CE2C1FCEF}" type="datetimeFigureOut">
              <a:rPr lang="en-IN" smtClean="0"/>
              <a:pPr/>
              <a:t>06-10-2026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3D660-E575-4D11-AB71-004F339A08D2}" type="slidenum">
              <a:rPr lang="en-IN" smtClean="0"/>
              <a:pPr/>
              <a:t>‹#›</a:t>
            </a:fld>
            <a:endParaRPr lang="en-IN"/>
          </a:p>
        </p:txBody>
      </p:sp>
    </p:spTree>
    <p:extLst>
      <p:ext uri="{BB962C8B-B14F-4D97-AF65-F5344CB8AC3E}">
        <p14:creationId xmlns:p14="http://schemas.microsoft.com/office/powerpoint/2010/main" xmlns="" val="522203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E1DCCD-BC8F-4646-B89C-482CE2C1FCEF}" type="datetimeFigureOut">
              <a:rPr lang="en-IN" smtClean="0"/>
              <a:pPr/>
              <a:t>06-10-2026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3D660-E575-4D11-AB71-004F339A08D2}" type="slidenum">
              <a:rPr lang="en-IN" smtClean="0"/>
              <a:pPr/>
              <a:t>‹#›</a:t>
            </a:fld>
            <a:endParaRPr lang="en-IN"/>
          </a:p>
        </p:txBody>
      </p:sp>
    </p:spTree>
    <p:extLst>
      <p:ext uri="{BB962C8B-B14F-4D97-AF65-F5344CB8AC3E}">
        <p14:creationId xmlns:p14="http://schemas.microsoft.com/office/powerpoint/2010/main" xmlns="" val="1058083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1E1DCCD-BC8F-4646-B89C-482CE2C1FCEF}" type="datetimeFigureOut">
              <a:rPr lang="en-IN" smtClean="0"/>
              <a:pPr/>
              <a:t>06-10-2026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3D660-E575-4D11-AB71-004F339A08D2}" type="slidenum">
              <a:rPr lang="en-IN" smtClean="0"/>
              <a:pPr/>
              <a:t>‹#›</a:t>
            </a:fld>
            <a:endParaRPr lang="en-IN"/>
          </a:p>
        </p:txBody>
      </p:sp>
    </p:spTree>
    <p:extLst>
      <p:ext uri="{BB962C8B-B14F-4D97-AF65-F5344CB8AC3E}">
        <p14:creationId xmlns:p14="http://schemas.microsoft.com/office/powerpoint/2010/main" xmlns="" val="2771349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1E1DCCD-BC8F-4646-B89C-482CE2C1FCEF}" type="datetimeFigureOut">
              <a:rPr lang="en-IN" smtClean="0"/>
              <a:pPr/>
              <a:t>06-10-2026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713D660-E575-4D11-AB71-004F339A08D2}" type="slidenum">
              <a:rPr lang="en-IN" smtClean="0"/>
              <a:pPr/>
              <a:t>‹#›</a:t>
            </a:fld>
            <a:endParaRPr lang="en-IN"/>
          </a:p>
        </p:txBody>
      </p:sp>
    </p:spTree>
    <p:extLst>
      <p:ext uri="{BB962C8B-B14F-4D97-AF65-F5344CB8AC3E}">
        <p14:creationId xmlns:p14="http://schemas.microsoft.com/office/powerpoint/2010/main" xmlns="" val="3064513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1E1DCCD-BC8F-4646-B89C-482CE2C1FCEF}" type="datetimeFigureOut">
              <a:rPr lang="en-IN" smtClean="0"/>
              <a:pPr/>
              <a:t>06-10-2026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713D660-E575-4D11-AB71-004F339A08D2}" type="slidenum">
              <a:rPr lang="en-IN" smtClean="0"/>
              <a:pPr/>
              <a:t>‹#›</a:t>
            </a:fld>
            <a:endParaRPr lang="en-IN"/>
          </a:p>
        </p:txBody>
      </p:sp>
    </p:spTree>
    <p:extLst>
      <p:ext uri="{BB962C8B-B14F-4D97-AF65-F5344CB8AC3E}">
        <p14:creationId xmlns:p14="http://schemas.microsoft.com/office/powerpoint/2010/main" xmlns="" val="3106632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E1DCCD-BC8F-4646-B89C-482CE2C1FCEF}" type="datetimeFigureOut">
              <a:rPr lang="en-IN" smtClean="0"/>
              <a:pPr/>
              <a:t>06-10-2026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713D660-E575-4D11-AB71-004F339A08D2}" type="slidenum">
              <a:rPr lang="en-IN" smtClean="0"/>
              <a:pPr/>
              <a:t>‹#›</a:t>
            </a:fld>
            <a:endParaRPr lang="en-IN"/>
          </a:p>
        </p:txBody>
      </p:sp>
    </p:spTree>
    <p:extLst>
      <p:ext uri="{BB962C8B-B14F-4D97-AF65-F5344CB8AC3E}">
        <p14:creationId xmlns:p14="http://schemas.microsoft.com/office/powerpoint/2010/main" xmlns="" val="1655359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E1DCCD-BC8F-4646-B89C-482CE2C1FCEF}" type="datetimeFigureOut">
              <a:rPr lang="en-IN" smtClean="0"/>
              <a:pPr/>
              <a:t>06-10-2026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3D660-E575-4D11-AB71-004F339A08D2}" type="slidenum">
              <a:rPr lang="en-IN" smtClean="0"/>
              <a:pPr/>
              <a:t>‹#›</a:t>
            </a:fld>
            <a:endParaRPr lang="en-IN"/>
          </a:p>
        </p:txBody>
      </p:sp>
    </p:spTree>
    <p:extLst>
      <p:ext uri="{BB962C8B-B14F-4D97-AF65-F5344CB8AC3E}">
        <p14:creationId xmlns:p14="http://schemas.microsoft.com/office/powerpoint/2010/main" xmlns="" val="1297875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E1DCCD-BC8F-4646-B89C-482CE2C1FCEF}" type="datetimeFigureOut">
              <a:rPr lang="en-IN" smtClean="0"/>
              <a:pPr/>
              <a:t>06-10-2026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3D660-E575-4D11-AB71-004F339A08D2}" type="slidenum">
              <a:rPr lang="en-IN" smtClean="0"/>
              <a:pPr/>
              <a:t>‹#›</a:t>
            </a:fld>
            <a:endParaRPr lang="en-IN"/>
          </a:p>
        </p:txBody>
      </p:sp>
    </p:spTree>
    <p:extLst>
      <p:ext uri="{BB962C8B-B14F-4D97-AF65-F5344CB8AC3E}">
        <p14:creationId xmlns:p14="http://schemas.microsoft.com/office/powerpoint/2010/main" xmlns="" val="3509085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1E1DCCD-BC8F-4646-B89C-482CE2C1FCEF}" type="datetimeFigureOut">
              <a:rPr lang="en-IN" smtClean="0"/>
              <a:pPr/>
              <a:t>06-10-2026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3D660-E575-4D11-AB71-004F339A08D2}" type="slidenum">
              <a:rPr lang="en-IN" smtClean="0"/>
              <a:pPr/>
              <a:t>‹#›</a:t>
            </a:fld>
            <a:endParaRPr lang="en-IN"/>
          </a:p>
        </p:txBody>
      </p:sp>
    </p:spTree>
    <p:extLst>
      <p:ext uri="{BB962C8B-B14F-4D97-AF65-F5344CB8AC3E}">
        <p14:creationId xmlns:p14="http://schemas.microsoft.com/office/powerpoint/2010/main" xmlns="" val="4140370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1E1DCCD-BC8F-4646-B89C-482CE2C1FCEF}" type="datetimeFigureOut">
              <a:rPr lang="en-IN" smtClean="0"/>
              <a:pPr/>
              <a:t>06-10-2026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3D660-E575-4D11-AB71-004F339A08D2}" type="slidenum">
              <a:rPr lang="en-IN" smtClean="0"/>
              <a:pPr/>
              <a:t>‹#›</a:t>
            </a:fld>
            <a:endParaRPr lang="en-IN"/>
          </a:p>
        </p:txBody>
      </p:sp>
    </p:spTree>
    <p:extLst>
      <p:ext uri="{BB962C8B-B14F-4D97-AF65-F5344CB8AC3E}">
        <p14:creationId xmlns:p14="http://schemas.microsoft.com/office/powerpoint/2010/main" xmlns="" val="3279354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E1DCCD-BC8F-4646-B89C-482CE2C1FCEF}" type="datetimeFigureOut">
              <a:rPr lang="en-IN" smtClean="0"/>
              <a:pPr/>
              <a:t>06-10-2026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13D660-E575-4D11-AB71-004F339A08D2}" type="slidenum">
              <a:rPr lang="en-IN" smtClean="0"/>
              <a:pPr/>
              <a:t>‹#›</a:t>
            </a:fld>
            <a:endParaRPr lang="en-IN"/>
          </a:p>
        </p:txBody>
      </p:sp>
      <p:pic>
        <p:nvPicPr>
          <p:cNvPr id="7" name="Picture 2" descr="Untitled">
            <a:extLst>
              <a:ext uri="{FF2B5EF4-FFF2-40B4-BE49-F238E27FC236}">
                <a16:creationId xmlns="" xmlns:a16="http://schemas.microsoft.com/office/drawing/2014/main" id="{D93066BC-3BE5-7D5E-89A3-58423591EE9C}"/>
              </a:ext>
            </a:extLst>
          </p:cNvPr>
          <p:cNvPicPr>
            <a:picLocks noChangeAspect="1" noChangeArrowheads="1"/>
          </p:cNvPicPr>
          <p:nvPr userDrawn="1"/>
        </p:nvPicPr>
        <p:blipFill>
          <a:blip r:embed="rId13">
            <a:extLst>
              <a:ext uri="{28A0092B-C50C-407E-A947-70E740481C1C}">
                <a14:useLocalDpi xmlns="" xmlns:a14="http://schemas.microsoft.com/office/drawing/2010/main" val="0"/>
              </a:ext>
            </a:extLst>
          </a:blip>
          <a:srcRect/>
          <a:stretch>
            <a:fillRect/>
          </a:stretch>
        </p:blipFill>
        <p:spPr bwMode="auto">
          <a:xfrm>
            <a:off x="9692947" y="5943727"/>
            <a:ext cx="2286543" cy="91427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xmlns="" val="2361702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package" Target="../embeddings/Microsoft_Office_Excel_Worksheet1.xlsx"/><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Office_Excel_Worksheet2.xlsx"/><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latin typeface="Times New Roman" pitchFamily="18" charset="0"/>
                <a:cs typeface="Times New Roman" pitchFamily="18" charset="0"/>
              </a:rPr>
              <a:t>Longest Job First (LJF) CPU Scheduling Algorithm</a:t>
            </a:r>
            <a:br>
              <a:rPr lang="en-US" sz="2800" b="1" dirty="0" smtClean="0">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838200" y="1293223"/>
            <a:ext cx="10515600" cy="2991394"/>
          </a:xfrm>
        </p:spPr>
        <p:txBody>
          <a:bodyPr/>
          <a:lstStyle/>
          <a:p>
            <a:pPr algn="just">
              <a:buNone/>
            </a:pPr>
            <a:r>
              <a:rPr lang="en-US" b="1" dirty="0" smtClean="0"/>
              <a:t>	</a:t>
            </a:r>
            <a:r>
              <a:rPr lang="en-US" sz="2400" b="1" dirty="0" smtClean="0">
                <a:latin typeface="Times New Roman" pitchFamily="18" charset="0"/>
                <a:cs typeface="Times New Roman" pitchFamily="18" charset="0"/>
              </a:rPr>
              <a:t>Longest Job First (LJF)</a:t>
            </a:r>
            <a:r>
              <a:rPr lang="en-US" sz="2400" dirty="0" smtClean="0">
                <a:latin typeface="Times New Roman" pitchFamily="18" charset="0"/>
                <a:cs typeface="Times New Roman" pitchFamily="18" charset="0"/>
              </a:rPr>
              <a:t> is a non-preemptive scheduling algorithm. This algorithm is based on the burst time of the processes. The processes are put into the ready queue based on their burst times i.e., in descending order of the burst times. As the name suggests this algorithm is based on the fact that the process with the largest burst time is processed first. The burst time of only those processes is considered that have arrived in the system until that time. Its preemptive version is called Longest Remaining Time First (LRTF) algorithm.</a:t>
            </a:r>
            <a:endParaRPr lang="en-US" sz="2400" dirty="0">
              <a:latin typeface="Times New Roman" pitchFamily="18" charset="0"/>
              <a:cs typeface="Times New Roman" pitchFamily="18" charset="0"/>
            </a:endParaRPr>
          </a:p>
        </p:txBody>
      </p:sp>
      <p:sp>
        <p:nvSpPr>
          <p:cNvPr id="5" name="Rectangle 4"/>
          <p:cNvSpPr/>
          <p:nvPr/>
        </p:nvSpPr>
        <p:spPr>
          <a:xfrm>
            <a:off x="1088571" y="3967984"/>
            <a:ext cx="10654937" cy="830997"/>
          </a:xfrm>
          <a:prstGeom prst="rect">
            <a:avLst/>
          </a:prstGeom>
        </p:spPr>
        <p:txBody>
          <a:bodyPr wrap="square">
            <a:spAutoFit/>
          </a:bodyPr>
          <a:lstStyle/>
          <a:p>
            <a:r>
              <a:rPr lang="en-US" sz="2400" b="1" dirty="0" smtClean="0">
                <a:latin typeface="Times New Roman" pitchFamily="18" charset="0"/>
                <a:cs typeface="Times New Roman" pitchFamily="18" charset="0"/>
              </a:rPr>
              <a:t>Example-1:</a:t>
            </a:r>
            <a:r>
              <a:rPr lang="en-US" sz="2400" dirty="0" smtClean="0">
                <a:latin typeface="Times New Roman" pitchFamily="18" charset="0"/>
                <a:cs typeface="Times New Roman" pitchFamily="18" charset="0"/>
              </a:rPr>
              <a:t> Consider the following table of arrival time and burst time for four processes P1, P2, P3 and P4.  </a:t>
            </a:r>
            <a:endParaRPr lang="en-US" sz="2400" dirty="0">
              <a:latin typeface="Times New Roman" pitchFamily="18" charset="0"/>
              <a:cs typeface="Times New Roman" pitchFamily="18" charset="0"/>
            </a:endParaRPr>
          </a:p>
        </p:txBody>
      </p:sp>
      <p:graphicFrame>
        <p:nvGraphicFramePr>
          <p:cNvPr id="1026" name="Object 2"/>
          <p:cNvGraphicFramePr>
            <a:graphicFrameLocks noChangeAspect="1"/>
          </p:cNvGraphicFramePr>
          <p:nvPr/>
        </p:nvGraphicFramePr>
        <p:xfrm>
          <a:off x="2898775" y="5025164"/>
          <a:ext cx="4565650" cy="1428750"/>
        </p:xfrm>
        <a:graphic>
          <a:graphicData uri="http://schemas.openxmlformats.org/presentationml/2006/ole">
            <p:oleObj spid="_x0000_s1026" name="Worksheet" r:id="rId3" imgW="4248292" imgH="1476238" progId="Excel.Sheet.12">
              <p:embed/>
            </p:oleObj>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5942"/>
            <a:ext cx="10515600" cy="6662058"/>
          </a:xfrm>
        </p:spPr>
        <p:txBody>
          <a:bodyPr>
            <a:normAutofit/>
          </a:bodyPr>
          <a:lstStyle/>
          <a:p>
            <a:pPr>
              <a:buNone/>
            </a:pPr>
            <a:endParaRPr lang="en-US" sz="1800" b="1" dirty="0" smtClean="0"/>
          </a:p>
          <a:p>
            <a:pPr>
              <a:buNone/>
            </a:pPr>
            <a:r>
              <a:rPr lang="en-US" sz="1800" b="1" dirty="0" smtClean="0"/>
              <a:t> At time = 1,</a:t>
            </a:r>
            <a:r>
              <a:rPr lang="en-US" sz="1800" dirty="0" smtClean="0"/>
              <a:t> Available Process : P1. So, select P1 Time and start executing.</a:t>
            </a:r>
            <a:endParaRPr lang="en-US" sz="1800" dirty="0"/>
          </a:p>
        </p:txBody>
      </p:sp>
      <p:graphicFrame>
        <p:nvGraphicFramePr>
          <p:cNvPr id="5" name="Table 4"/>
          <p:cNvGraphicFramePr>
            <a:graphicFrameLocks noGrp="1"/>
          </p:cNvGraphicFramePr>
          <p:nvPr/>
        </p:nvGraphicFramePr>
        <p:xfrm>
          <a:off x="973908" y="997962"/>
          <a:ext cx="8127999" cy="524149"/>
        </p:xfrm>
        <a:graphic>
          <a:graphicData uri="http://schemas.openxmlformats.org/drawingml/2006/table">
            <a:tbl>
              <a:tblPr/>
              <a:tblGrid>
                <a:gridCol w="1042429"/>
                <a:gridCol w="678563"/>
                <a:gridCol w="1111269"/>
                <a:gridCol w="1150606"/>
                <a:gridCol w="1113728"/>
                <a:gridCol w="1379252"/>
                <a:gridCol w="1652152"/>
              </a:tblGrid>
              <a:tr h="346972">
                <a:tc>
                  <a:txBody>
                    <a:bodyPr/>
                    <a:lstStyle/>
                    <a:p>
                      <a:pPr algn="ctr" fontAlgn="ctr"/>
                      <a:r>
                        <a:rPr lang="en-US" sz="1100" b="1" i="0" u="none" strike="noStrike" dirty="0">
                          <a:solidFill>
                            <a:srgbClr val="000000"/>
                          </a:solidFill>
                          <a:latin typeface="Arial"/>
                        </a:rPr>
                        <a:t>Time Instance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Process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Arrival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dirty="0">
                          <a:solidFill>
                            <a:srgbClr val="000000"/>
                          </a:solidFill>
                          <a:latin typeface="Arial"/>
                        </a:rPr>
                        <a:t>Waiting Table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Execution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Initial Burst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Remaining Burst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r>
              <a:tr h="177177">
                <a:tc>
                  <a:txBody>
                    <a:bodyPr/>
                    <a:lstStyle/>
                    <a:p>
                      <a:pPr algn="ctr" fontAlgn="ctr"/>
                      <a:r>
                        <a:rPr lang="en-US" sz="1100" b="0" i="0" u="none" strike="noStrike" dirty="0">
                          <a:solidFill>
                            <a:srgbClr val="000000"/>
                          </a:solidFill>
                          <a:latin typeface="Arial"/>
                        </a:rPr>
                        <a:t>1-2ms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latin typeface="Arial"/>
                        </a:rPr>
                        <a:t>P1</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dirty="0">
                          <a:solidFill>
                            <a:srgbClr val="000000"/>
                          </a:solidFill>
                          <a:latin typeface="Arial"/>
                        </a:rPr>
                        <a:t>1ms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latin typeface="Arial"/>
                        </a:rPr>
                        <a:t> </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latin typeface="Arial"/>
                        </a:rPr>
                        <a:t>1ms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latin typeface="Arial"/>
                        </a:rPr>
                        <a:t>2ms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dirty="0">
                          <a:solidFill>
                            <a:srgbClr val="000000"/>
                          </a:solidFill>
                          <a:latin typeface="Arial"/>
                        </a:rPr>
                        <a:t>1ms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sp>
        <p:nvSpPr>
          <p:cNvPr id="6" name="Rectangle 5"/>
          <p:cNvSpPr/>
          <p:nvPr/>
        </p:nvSpPr>
        <p:spPr>
          <a:xfrm>
            <a:off x="892627" y="1600927"/>
            <a:ext cx="9805851" cy="369332"/>
          </a:xfrm>
          <a:prstGeom prst="rect">
            <a:avLst/>
          </a:prstGeom>
        </p:spPr>
        <p:txBody>
          <a:bodyPr wrap="square">
            <a:spAutoFit/>
          </a:bodyPr>
          <a:lstStyle/>
          <a:p>
            <a:pPr fontAlgn="base"/>
            <a:r>
              <a:rPr lang="en-US" b="1" dirty="0" smtClean="0"/>
              <a:t>At time = 2,  </a:t>
            </a:r>
            <a:r>
              <a:rPr lang="en-US" dirty="0" smtClean="0"/>
              <a:t>Process P2 arrives , As P1 is executing thus, Process P2 will wait in the waiting queue.</a:t>
            </a:r>
            <a:endParaRPr lang="en-US" dirty="0"/>
          </a:p>
        </p:txBody>
      </p:sp>
      <p:graphicFrame>
        <p:nvGraphicFramePr>
          <p:cNvPr id="7" name="Table 6"/>
          <p:cNvGraphicFramePr>
            <a:graphicFrameLocks noGrp="1"/>
          </p:cNvGraphicFramePr>
          <p:nvPr/>
        </p:nvGraphicFramePr>
        <p:xfrm>
          <a:off x="947783" y="2165110"/>
          <a:ext cx="8127999" cy="671796"/>
        </p:xfrm>
        <a:graphic>
          <a:graphicData uri="http://schemas.openxmlformats.org/drawingml/2006/table">
            <a:tbl>
              <a:tblPr/>
              <a:tblGrid>
                <a:gridCol w="931425"/>
                <a:gridCol w="992934"/>
                <a:gridCol w="992934"/>
                <a:gridCol w="1028082"/>
                <a:gridCol w="1230184"/>
                <a:gridCol w="1476220"/>
                <a:gridCol w="1476220"/>
              </a:tblGrid>
              <a:tr h="346972">
                <a:tc>
                  <a:txBody>
                    <a:bodyPr/>
                    <a:lstStyle/>
                    <a:p>
                      <a:pPr algn="ctr" fontAlgn="ctr"/>
                      <a:r>
                        <a:rPr lang="en-US" sz="1100" b="1" i="0" u="none" strike="noStrike" dirty="0">
                          <a:solidFill>
                            <a:srgbClr val="000000"/>
                          </a:solidFill>
                          <a:latin typeface="Arial"/>
                        </a:rPr>
                        <a:t>Time Instance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Process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dirty="0">
                          <a:solidFill>
                            <a:srgbClr val="000000"/>
                          </a:solidFill>
                          <a:latin typeface="Arial"/>
                        </a:rPr>
                        <a:t>Arrival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dirty="0">
                          <a:solidFill>
                            <a:srgbClr val="000000"/>
                          </a:solidFill>
                          <a:latin typeface="Arial"/>
                        </a:rPr>
                        <a:t>Waiting Table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Execution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Initial Burst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Remaining Burst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r>
              <a:tr h="162412">
                <a:tc rowSpan="2">
                  <a:txBody>
                    <a:bodyPr/>
                    <a:lstStyle/>
                    <a:p>
                      <a:pPr algn="ctr" fontAlgn="ctr"/>
                      <a:r>
                        <a:rPr lang="en-US" sz="1000" b="0" i="0" u="none" strike="noStrike">
                          <a:solidFill>
                            <a:srgbClr val="000000"/>
                          </a:solidFill>
                          <a:latin typeface="Arial"/>
                        </a:rPr>
                        <a:t>2-3ms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a:solidFill>
                            <a:srgbClr val="000000"/>
                          </a:solidFill>
                          <a:latin typeface="Arial"/>
                        </a:rPr>
                        <a:t>P1</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a:solidFill>
                            <a:srgbClr val="000000"/>
                          </a:solidFill>
                          <a:latin typeface="Arial"/>
                        </a:rPr>
                        <a:t>1ms</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fontAlgn="ctr"/>
                      <a:r>
                        <a:rPr lang="en-US" sz="1000" b="0" i="0" u="none" strike="noStrike">
                          <a:solidFill>
                            <a:srgbClr val="000000"/>
                          </a:solidFill>
                          <a:latin typeface="Arial"/>
                        </a:rPr>
                        <a:t>P2</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a:solidFill>
                            <a:srgbClr val="000000"/>
                          </a:solidFill>
                          <a:latin typeface="Arial"/>
                        </a:rPr>
                        <a:t>1ms</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a:solidFill>
                            <a:srgbClr val="000000"/>
                          </a:solidFill>
                          <a:latin typeface="Arial"/>
                        </a:rPr>
                        <a:t>1ms</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a:solidFill>
                            <a:srgbClr val="000000"/>
                          </a:solidFill>
                          <a:latin typeface="Arial"/>
                        </a:rPr>
                        <a:t>0ms</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2412">
                <a:tc vMerge="1">
                  <a:txBody>
                    <a:bodyPr/>
                    <a:lstStyle/>
                    <a:p>
                      <a:endParaRPr lang="en-US"/>
                    </a:p>
                  </a:txBody>
                  <a:tcPr/>
                </a:tc>
                <a:tc>
                  <a:txBody>
                    <a:bodyPr/>
                    <a:lstStyle/>
                    <a:p>
                      <a:pPr algn="ctr" fontAlgn="ctr"/>
                      <a:r>
                        <a:rPr lang="en-US" sz="1000" b="0" i="0" u="none" strike="noStrike">
                          <a:solidFill>
                            <a:srgbClr val="000000"/>
                          </a:solidFill>
                          <a:latin typeface="Arial"/>
                        </a:rPr>
                        <a:t>P2</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2ms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fontAlgn="ctr"/>
                      <a:r>
                        <a:rPr lang="en-US" sz="1000" b="0" i="0" u="none" strike="noStrike">
                          <a:solidFill>
                            <a:srgbClr val="000000"/>
                          </a:solidFill>
                          <a:latin typeface="Arial"/>
                        </a:rPr>
                        <a:t>0ms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4ms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dirty="0">
                          <a:solidFill>
                            <a:srgbClr val="000000"/>
                          </a:solidFill>
                          <a:latin typeface="Arial"/>
                        </a:rPr>
                        <a:t>4ms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sp>
        <p:nvSpPr>
          <p:cNvPr id="8" name="Rectangle 7"/>
          <p:cNvSpPr/>
          <p:nvPr/>
        </p:nvSpPr>
        <p:spPr>
          <a:xfrm>
            <a:off x="888274" y="2907213"/>
            <a:ext cx="10175965" cy="646331"/>
          </a:xfrm>
          <a:prstGeom prst="rect">
            <a:avLst/>
          </a:prstGeom>
        </p:spPr>
        <p:txBody>
          <a:bodyPr wrap="square">
            <a:spAutoFit/>
          </a:bodyPr>
          <a:lstStyle/>
          <a:p>
            <a:pPr fontAlgn="base"/>
            <a:r>
              <a:rPr lang="en-US" b="1" dirty="0" smtClean="0"/>
              <a:t>At time = 3, </a:t>
            </a:r>
            <a:r>
              <a:rPr lang="en-US" dirty="0" smtClean="0"/>
              <a:t>P1 gets executed, and process P3 arrives,  </a:t>
            </a:r>
          </a:p>
          <a:p>
            <a:pPr fontAlgn="base"/>
            <a:r>
              <a:rPr lang="en-US" dirty="0" smtClean="0"/>
              <a:t>Available Process: P2, P3. So, select P3 and execute 6 ms (since B.T(P3)=6 which is higher than B.T(P2) = 4) </a:t>
            </a:r>
            <a:endParaRPr lang="en-US" dirty="0"/>
          </a:p>
        </p:txBody>
      </p:sp>
      <p:graphicFrame>
        <p:nvGraphicFramePr>
          <p:cNvPr id="9" name="Table 8"/>
          <p:cNvGraphicFramePr>
            <a:graphicFrameLocks noGrp="1"/>
          </p:cNvGraphicFramePr>
          <p:nvPr/>
        </p:nvGraphicFramePr>
        <p:xfrm>
          <a:off x="960847" y="3667338"/>
          <a:ext cx="8127999" cy="671796"/>
        </p:xfrm>
        <a:graphic>
          <a:graphicData uri="http://schemas.openxmlformats.org/drawingml/2006/table">
            <a:tbl>
              <a:tblPr/>
              <a:tblGrid>
                <a:gridCol w="931425"/>
                <a:gridCol w="992934"/>
                <a:gridCol w="992934"/>
                <a:gridCol w="1028082"/>
                <a:gridCol w="1230184"/>
                <a:gridCol w="1476220"/>
                <a:gridCol w="1476220"/>
              </a:tblGrid>
              <a:tr h="346972">
                <a:tc>
                  <a:txBody>
                    <a:bodyPr/>
                    <a:lstStyle/>
                    <a:p>
                      <a:pPr algn="ctr" fontAlgn="ctr"/>
                      <a:r>
                        <a:rPr lang="en-US" sz="1100" b="1" i="0" u="none" strike="noStrike" dirty="0">
                          <a:solidFill>
                            <a:srgbClr val="000000"/>
                          </a:solidFill>
                          <a:latin typeface="Arial"/>
                        </a:rPr>
                        <a:t>Time Instance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Process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Arrival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dirty="0">
                          <a:solidFill>
                            <a:srgbClr val="000000"/>
                          </a:solidFill>
                          <a:latin typeface="Arial"/>
                        </a:rPr>
                        <a:t>Waiting Table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Execution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Initial Burst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Remaining Burst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r>
              <a:tr h="162412">
                <a:tc rowSpan="2">
                  <a:txBody>
                    <a:bodyPr/>
                    <a:lstStyle/>
                    <a:p>
                      <a:pPr algn="ctr" fontAlgn="ctr"/>
                      <a:r>
                        <a:rPr lang="en-US" sz="1000" b="0" i="0" u="none" strike="noStrike">
                          <a:solidFill>
                            <a:srgbClr val="000000"/>
                          </a:solidFill>
                          <a:latin typeface="Arial"/>
                        </a:rPr>
                        <a:t>3-4ms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P2</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2ms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fontAlgn="ctr"/>
                      <a:r>
                        <a:rPr lang="en-US" sz="1000" b="0" i="0" u="none" strike="noStrike">
                          <a:solidFill>
                            <a:srgbClr val="000000"/>
                          </a:solidFill>
                          <a:latin typeface="Arial"/>
                        </a:rPr>
                        <a:t>P2</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0ms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4ms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4ms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2412">
                <a:tc vMerge="1">
                  <a:txBody>
                    <a:bodyPr/>
                    <a:lstStyle/>
                    <a:p>
                      <a:endParaRPr lang="en-US"/>
                    </a:p>
                  </a:txBody>
                  <a:tcPr/>
                </a:tc>
                <a:tc>
                  <a:txBody>
                    <a:bodyPr/>
                    <a:lstStyle/>
                    <a:p>
                      <a:pPr algn="ctr" fontAlgn="ctr"/>
                      <a:r>
                        <a:rPr lang="en-US" sz="1000" b="0" i="0" u="none" strike="noStrike">
                          <a:solidFill>
                            <a:srgbClr val="000000"/>
                          </a:solidFill>
                          <a:latin typeface="Arial"/>
                        </a:rPr>
                        <a:t>P3</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3ms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fontAlgn="ctr"/>
                      <a:r>
                        <a:rPr lang="en-US" sz="1000" b="0" i="0" u="none" strike="noStrike">
                          <a:solidFill>
                            <a:srgbClr val="000000"/>
                          </a:solidFill>
                          <a:latin typeface="Arial"/>
                        </a:rPr>
                        <a:t>1ms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6ms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dirty="0">
                          <a:solidFill>
                            <a:srgbClr val="000000"/>
                          </a:solidFill>
                          <a:latin typeface="Arial"/>
                        </a:rPr>
                        <a:t>5ms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sp>
        <p:nvSpPr>
          <p:cNvPr id="11" name="Rectangle 10"/>
          <p:cNvSpPr/>
          <p:nvPr/>
        </p:nvSpPr>
        <p:spPr>
          <a:xfrm>
            <a:off x="918752" y="4553133"/>
            <a:ext cx="10354493" cy="369332"/>
          </a:xfrm>
          <a:prstGeom prst="rect">
            <a:avLst/>
          </a:prstGeom>
        </p:spPr>
        <p:txBody>
          <a:bodyPr wrap="square">
            <a:spAutoFit/>
          </a:bodyPr>
          <a:lstStyle/>
          <a:p>
            <a:pPr fontAlgn="base"/>
            <a:r>
              <a:rPr lang="en-US" b="1" dirty="0" smtClean="0"/>
              <a:t>At time = 4, </a:t>
            </a:r>
            <a:r>
              <a:rPr lang="en-US" dirty="0" smtClean="0"/>
              <a:t>Process P4 arrives, As P3 is executing thus, Process P4 will wait in the waiting queue</a:t>
            </a:r>
            <a:endParaRPr lang="en-US" dirty="0"/>
          </a:p>
        </p:txBody>
      </p:sp>
      <p:graphicFrame>
        <p:nvGraphicFramePr>
          <p:cNvPr id="13" name="Table 12"/>
          <p:cNvGraphicFramePr>
            <a:graphicFrameLocks noGrp="1"/>
          </p:cNvGraphicFramePr>
          <p:nvPr/>
        </p:nvGraphicFramePr>
        <p:xfrm>
          <a:off x="973908" y="5101424"/>
          <a:ext cx="8127999" cy="834208"/>
        </p:xfrm>
        <a:graphic>
          <a:graphicData uri="http://schemas.openxmlformats.org/drawingml/2006/table">
            <a:tbl>
              <a:tblPr/>
              <a:tblGrid>
                <a:gridCol w="931425"/>
                <a:gridCol w="992934"/>
                <a:gridCol w="992934"/>
                <a:gridCol w="1028082"/>
                <a:gridCol w="1230184"/>
                <a:gridCol w="1476220"/>
                <a:gridCol w="1476220"/>
              </a:tblGrid>
              <a:tr h="346972">
                <a:tc>
                  <a:txBody>
                    <a:bodyPr/>
                    <a:lstStyle/>
                    <a:p>
                      <a:pPr algn="ctr" fontAlgn="ctr"/>
                      <a:r>
                        <a:rPr lang="en-US" sz="1100" b="1" i="0" u="none" strike="noStrike" dirty="0">
                          <a:solidFill>
                            <a:srgbClr val="000000"/>
                          </a:solidFill>
                          <a:latin typeface="Arial"/>
                        </a:rPr>
                        <a:t>Time Instance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Process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dirty="0">
                          <a:solidFill>
                            <a:srgbClr val="000000"/>
                          </a:solidFill>
                          <a:latin typeface="Arial"/>
                        </a:rPr>
                        <a:t>Arrival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Waiting Table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Execution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Initial Burst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Remaining Burst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r>
              <a:tr h="162412">
                <a:tc rowSpan="3">
                  <a:txBody>
                    <a:bodyPr/>
                    <a:lstStyle/>
                    <a:p>
                      <a:pPr algn="ctr" fontAlgn="ctr"/>
                      <a:r>
                        <a:rPr lang="en-US" sz="1000" b="0" i="0" u="none" strike="noStrike">
                          <a:solidFill>
                            <a:srgbClr val="000000"/>
                          </a:solidFill>
                          <a:latin typeface="Arial"/>
                        </a:rPr>
                        <a:t>4-5ms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P2</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2ms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algn="ctr" fontAlgn="ctr"/>
                      <a:r>
                        <a:rPr lang="en-US" sz="1000" b="0" i="0" u="none" strike="noStrike">
                          <a:solidFill>
                            <a:srgbClr val="000000"/>
                          </a:solidFill>
                          <a:latin typeface="Arial"/>
                        </a:rPr>
                        <a:t>P2, P4</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0ms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4ms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4ms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2412">
                <a:tc vMerge="1">
                  <a:txBody>
                    <a:bodyPr/>
                    <a:lstStyle/>
                    <a:p>
                      <a:endParaRPr lang="en-US"/>
                    </a:p>
                  </a:txBody>
                  <a:tcPr/>
                </a:tc>
                <a:tc>
                  <a:txBody>
                    <a:bodyPr/>
                    <a:lstStyle/>
                    <a:p>
                      <a:pPr algn="ctr" fontAlgn="ctr"/>
                      <a:r>
                        <a:rPr lang="en-US" sz="1000" b="0" i="0" u="none" strike="noStrike">
                          <a:solidFill>
                            <a:srgbClr val="000000"/>
                          </a:solidFill>
                          <a:latin typeface="Arial"/>
                        </a:rPr>
                        <a:t>P3</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3ms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fontAlgn="ctr"/>
                      <a:r>
                        <a:rPr lang="en-US" sz="1000" b="0" i="0" u="none" strike="noStrike">
                          <a:solidFill>
                            <a:srgbClr val="000000"/>
                          </a:solidFill>
                          <a:latin typeface="Arial"/>
                        </a:rPr>
                        <a:t>1ms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5ms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4ms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2412">
                <a:tc vMerge="1">
                  <a:txBody>
                    <a:bodyPr/>
                    <a:lstStyle/>
                    <a:p>
                      <a:endParaRPr lang="en-US"/>
                    </a:p>
                  </a:txBody>
                  <a:tcPr/>
                </a:tc>
                <a:tc>
                  <a:txBody>
                    <a:bodyPr/>
                    <a:lstStyle/>
                    <a:p>
                      <a:pPr algn="ctr" fontAlgn="ctr"/>
                      <a:r>
                        <a:rPr lang="en-US" sz="1000" b="0" i="0" u="none" strike="noStrike">
                          <a:solidFill>
                            <a:srgbClr val="000000"/>
                          </a:solidFill>
                          <a:latin typeface="Arial"/>
                        </a:rPr>
                        <a:t>P4</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4ms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fontAlgn="ctr"/>
                      <a:r>
                        <a:rPr lang="en-US" sz="1000" b="0" i="0" u="none" strike="noStrike">
                          <a:solidFill>
                            <a:srgbClr val="000000"/>
                          </a:solidFill>
                          <a:latin typeface="Arial"/>
                        </a:rPr>
                        <a:t>0ms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8ms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dirty="0">
                          <a:solidFill>
                            <a:srgbClr val="000000"/>
                          </a:solidFill>
                          <a:latin typeface="Arial"/>
                        </a:rPr>
                        <a:t>8ms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0891"/>
            <a:ext cx="10515600" cy="5576072"/>
          </a:xfrm>
        </p:spPr>
        <p:txBody>
          <a:bodyPr/>
          <a:lstStyle/>
          <a:p>
            <a:pPr fontAlgn="base">
              <a:buNone/>
            </a:pPr>
            <a:r>
              <a:rPr lang="en-US" b="1" dirty="0" smtClean="0"/>
              <a:t>   </a:t>
            </a:r>
            <a:r>
              <a:rPr lang="en-US" sz="1800" b="1" dirty="0" smtClean="0"/>
              <a:t>At time = 5, </a:t>
            </a:r>
            <a:r>
              <a:rPr lang="en-US" sz="1800" dirty="0" smtClean="0"/>
              <a:t>Process P3 is executing and P2 and P4 are in the waiting Table.</a:t>
            </a:r>
          </a:p>
          <a:p>
            <a:endParaRPr lang="en-US" dirty="0"/>
          </a:p>
        </p:txBody>
      </p:sp>
      <p:graphicFrame>
        <p:nvGraphicFramePr>
          <p:cNvPr id="4" name="Table 3"/>
          <p:cNvGraphicFramePr>
            <a:graphicFrameLocks noGrp="1"/>
          </p:cNvGraphicFramePr>
          <p:nvPr/>
        </p:nvGraphicFramePr>
        <p:xfrm>
          <a:off x="1013097" y="1208693"/>
          <a:ext cx="8127999" cy="834208"/>
        </p:xfrm>
        <a:graphic>
          <a:graphicData uri="http://schemas.openxmlformats.org/drawingml/2006/table">
            <a:tbl>
              <a:tblPr/>
              <a:tblGrid>
                <a:gridCol w="931425"/>
                <a:gridCol w="992934"/>
                <a:gridCol w="992934"/>
                <a:gridCol w="1028082"/>
                <a:gridCol w="1230184"/>
                <a:gridCol w="1476220"/>
                <a:gridCol w="1476220"/>
              </a:tblGrid>
              <a:tr h="346972">
                <a:tc>
                  <a:txBody>
                    <a:bodyPr/>
                    <a:lstStyle/>
                    <a:p>
                      <a:pPr algn="ctr" fontAlgn="ctr"/>
                      <a:r>
                        <a:rPr lang="en-US" sz="1100" b="1" i="0" u="none" strike="noStrike">
                          <a:solidFill>
                            <a:srgbClr val="000000"/>
                          </a:solidFill>
                          <a:latin typeface="Arial"/>
                        </a:rPr>
                        <a:t>Time Instance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Process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Arrival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Waiting Table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Execution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Initial Burst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Remaining Burst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r>
              <a:tr h="162412">
                <a:tc rowSpan="3">
                  <a:txBody>
                    <a:bodyPr/>
                    <a:lstStyle/>
                    <a:p>
                      <a:pPr algn="ctr" fontAlgn="ctr"/>
                      <a:r>
                        <a:rPr lang="en-US" sz="1000" b="0" i="0" u="none" strike="noStrike">
                          <a:solidFill>
                            <a:srgbClr val="000000"/>
                          </a:solidFill>
                          <a:latin typeface="Arial"/>
                        </a:rPr>
                        <a:t>5-9ms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P2</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2ms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algn="ctr" fontAlgn="ctr"/>
                      <a:r>
                        <a:rPr lang="en-US" sz="1000" b="0" i="0" u="none" strike="noStrike">
                          <a:solidFill>
                            <a:srgbClr val="000000"/>
                          </a:solidFill>
                          <a:latin typeface="Arial"/>
                        </a:rPr>
                        <a:t>P2, P4</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0ms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4ms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4ms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2412">
                <a:tc vMerge="1">
                  <a:txBody>
                    <a:bodyPr/>
                    <a:lstStyle/>
                    <a:p>
                      <a:endParaRPr lang="en-US"/>
                    </a:p>
                  </a:txBody>
                  <a:tcPr/>
                </a:tc>
                <a:tc>
                  <a:txBody>
                    <a:bodyPr/>
                    <a:lstStyle/>
                    <a:p>
                      <a:pPr algn="ctr" fontAlgn="ctr"/>
                      <a:r>
                        <a:rPr lang="en-US" sz="1000" b="0" i="0" u="none" strike="sngStrike">
                          <a:solidFill>
                            <a:srgbClr val="000000"/>
                          </a:solidFill>
                          <a:latin typeface="Arial"/>
                        </a:rPr>
                        <a:t>P3</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a:solidFill>
                            <a:srgbClr val="000000"/>
                          </a:solidFill>
                          <a:latin typeface="Arial"/>
                        </a:rPr>
                        <a:t>3ms</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fontAlgn="ctr"/>
                      <a:r>
                        <a:rPr lang="en-US" sz="1000" b="0" i="0" u="none" strike="sngStrike">
                          <a:solidFill>
                            <a:srgbClr val="000000"/>
                          </a:solidFill>
                          <a:latin typeface="Arial"/>
                        </a:rPr>
                        <a:t>4ms</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a:solidFill>
                            <a:srgbClr val="000000"/>
                          </a:solidFill>
                          <a:latin typeface="Arial"/>
                        </a:rPr>
                        <a:t>4ms</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a:solidFill>
                            <a:srgbClr val="000000"/>
                          </a:solidFill>
                          <a:latin typeface="Arial"/>
                        </a:rPr>
                        <a:t>0ms</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2412">
                <a:tc vMerge="1">
                  <a:txBody>
                    <a:bodyPr/>
                    <a:lstStyle/>
                    <a:p>
                      <a:endParaRPr lang="en-US"/>
                    </a:p>
                  </a:txBody>
                  <a:tcPr/>
                </a:tc>
                <a:tc>
                  <a:txBody>
                    <a:bodyPr/>
                    <a:lstStyle/>
                    <a:p>
                      <a:pPr algn="ctr" fontAlgn="ctr"/>
                      <a:r>
                        <a:rPr lang="en-US" sz="1000" b="0" i="0" u="none" strike="noStrike">
                          <a:solidFill>
                            <a:srgbClr val="000000"/>
                          </a:solidFill>
                          <a:latin typeface="Arial"/>
                        </a:rPr>
                        <a:t>P4</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4ms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fontAlgn="ctr"/>
                      <a:r>
                        <a:rPr lang="en-US" sz="1000" b="0" i="0" u="none" strike="noStrike">
                          <a:solidFill>
                            <a:srgbClr val="000000"/>
                          </a:solidFill>
                          <a:latin typeface="Arial"/>
                        </a:rPr>
                        <a:t>0ms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8ms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dirty="0">
                          <a:solidFill>
                            <a:srgbClr val="000000"/>
                          </a:solidFill>
                          <a:latin typeface="Arial"/>
                        </a:rPr>
                        <a:t>8ms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sp>
        <p:nvSpPr>
          <p:cNvPr id="5" name="Rectangle 4"/>
          <p:cNvSpPr/>
          <p:nvPr/>
        </p:nvSpPr>
        <p:spPr>
          <a:xfrm>
            <a:off x="1088570" y="2280196"/>
            <a:ext cx="8995955" cy="646331"/>
          </a:xfrm>
          <a:prstGeom prst="rect">
            <a:avLst/>
          </a:prstGeom>
        </p:spPr>
        <p:txBody>
          <a:bodyPr wrap="square">
            <a:spAutoFit/>
          </a:bodyPr>
          <a:lstStyle/>
          <a:p>
            <a:pPr fontAlgn="base"/>
            <a:r>
              <a:rPr lang="en-US" b="1" dirty="0" smtClean="0"/>
              <a:t>At time = 9, </a:t>
            </a:r>
            <a:r>
              <a:rPr lang="en-US" dirty="0" smtClean="0"/>
              <a:t>Process P3 completes its execution, </a:t>
            </a:r>
          </a:p>
          <a:p>
            <a:pPr fontAlgn="base"/>
            <a:r>
              <a:rPr lang="en-US" dirty="0" smtClean="0"/>
              <a:t>Available Process : P2, P4. So, select P4 and execute 8 ms (since, B.T(P4) = 8, B.T(P2) = 4) </a:t>
            </a:r>
            <a:endParaRPr lang="en-US" dirty="0"/>
          </a:p>
        </p:txBody>
      </p:sp>
      <p:graphicFrame>
        <p:nvGraphicFramePr>
          <p:cNvPr id="6" name="Table 5"/>
          <p:cNvGraphicFramePr>
            <a:graphicFrameLocks noGrp="1"/>
          </p:cNvGraphicFramePr>
          <p:nvPr/>
        </p:nvGraphicFramePr>
        <p:xfrm>
          <a:off x="1065349" y="3105635"/>
          <a:ext cx="8127999" cy="671796"/>
        </p:xfrm>
        <a:graphic>
          <a:graphicData uri="http://schemas.openxmlformats.org/drawingml/2006/table">
            <a:tbl>
              <a:tblPr/>
              <a:tblGrid>
                <a:gridCol w="931425"/>
                <a:gridCol w="992934"/>
                <a:gridCol w="992934"/>
                <a:gridCol w="1028082"/>
                <a:gridCol w="1230184"/>
                <a:gridCol w="1476220"/>
                <a:gridCol w="1476220"/>
              </a:tblGrid>
              <a:tr h="346972">
                <a:tc>
                  <a:txBody>
                    <a:bodyPr/>
                    <a:lstStyle/>
                    <a:p>
                      <a:pPr algn="ctr" fontAlgn="ctr"/>
                      <a:r>
                        <a:rPr lang="en-US" sz="1100" b="1" i="0" u="none" strike="noStrike" dirty="0">
                          <a:solidFill>
                            <a:srgbClr val="000000"/>
                          </a:solidFill>
                          <a:latin typeface="Arial"/>
                        </a:rPr>
                        <a:t>Time Instance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Process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Arrival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Waiting Table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Execution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Initial Burst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Remaining Burst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r>
              <a:tr h="162412">
                <a:tc rowSpan="2">
                  <a:txBody>
                    <a:bodyPr/>
                    <a:lstStyle/>
                    <a:p>
                      <a:pPr algn="ctr" fontAlgn="ctr"/>
                      <a:r>
                        <a:rPr lang="en-US" sz="1000" b="0" i="0" u="none" strike="noStrike">
                          <a:solidFill>
                            <a:srgbClr val="000000"/>
                          </a:solidFill>
                          <a:latin typeface="Arial"/>
                        </a:rPr>
                        <a:t>9-17ms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dirty="0">
                          <a:solidFill>
                            <a:srgbClr val="000000"/>
                          </a:solidFill>
                          <a:latin typeface="Arial"/>
                        </a:rPr>
                        <a:t>P2</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2ms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fontAlgn="ctr"/>
                      <a:r>
                        <a:rPr lang="en-US" sz="1000" b="0" i="0" u="none" strike="noStrike">
                          <a:solidFill>
                            <a:srgbClr val="000000"/>
                          </a:solidFill>
                          <a:latin typeface="Arial"/>
                        </a:rPr>
                        <a:t>P2</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0ms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4ms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4ms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2412">
                <a:tc vMerge="1">
                  <a:txBody>
                    <a:bodyPr/>
                    <a:lstStyle/>
                    <a:p>
                      <a:endParaRPr lang="en-US"/>
                    </a:p>
                  </a:txBody>
                  <a:tcPr/>
                </a:tc>
                <a:tc>
                  <a:txBody>
                    <a:bodyPr/>
                    <a:lstStyle/>
                    <a:p>
                      <a:pPr algn="ctr" fontAlgn="ctr"/>
                      <a:r>
                        <a:rPr lang="en-US" sz="1000" b="0" i="0" u="none" strike="sngStrike">
                          <a:solidFill>
                            <a:srgbClr val="000000"/>
                          </a:solidFill>
                          <a:latin typeface="Arial"/>
                        </a:rPr>
                        <a:t>P4</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a:solidFill>
                            <a:srgbClr val="000000"/>
                          </a:solidFill>
                          <a:latin typeface="Arial"/>
                        </a:rPr>
                        <a:t>4ms</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fontAlgn="ctr"/>
                      <a:r>
                        <a:rPr lang="en-US" sz="1000" b="0" i="0" u="none" strike="sngStrike">
                          <a:solidFill>
                            <a:srgbClr val="000000"/>
                          </a:solidFill>
                          <a:latin typeface="Arial"/>
                        </a:rPr>
                        <a:t>8ms</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a:solidFill>
                            <a:srgbClr val="000000"/>
                          </a:solidFill>
                          <a:latin typeface="Arial"/>
                        </a:rPr>
                        <a:t>8ms</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dirty="0">
                          <a:solidFill>
                            <a:srgbClr val="000000"/>
                          </a:solidFill>
                          <a:latin typeface="Arial"/>
                        </a:rPr>
                        <a:t>0ms</a:t>
                      </a:r>
                      <a:endParaRPr lang="en-US" sz="1000" b="0" i="0" u="none" strike="noStrike" dirty="0">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sp>
        <p:nvSpPr>
          <p:cNvPr id="7" name="Rectangle 6"/>
          <p:cNvSpPr/>
          <p:nvPr/>
        </p:nvSpPr>
        <p:spPr>
          <a:xfrm>
            <a:off x="1062445" y="4111675"/>
            <a:ext cx="8617131" cy="369332"/>
          </a:xfrm>
          <a:prstGeom prst="rect">
            <a:avLst/>
          </a:prstGeom>
        </p:spPr>
        <p:txBody>
          <a:bodyPr wrap="square">
            <a:spAutoFit/>
          </a:bodyPr>
          <a:lstStyle/>
          <a:p>
            <a:pPr fontAlgn="base"/>
            <a:r>
              <a:rPr lang="en-US" b="1" dirty="0" smtClean="0"/>
              <a:t>At time = 17,  </a:t>
            </a:r>
            <a:r>
              <a:rPr lang="en-US" dirty="0" smtClean="0"/>
              <a:t>Finally execute the process P2 for 4 </a:t>
            </a:r>
            <a:r>
              <a:rPr lang="en-US" dirty="0" err="1" smtClean="0"/>
              <a:t>ms.</a:t>
            </a:r>
            <a:endParaRPr lang="en-US" dirty="0"/>
          </a:p>
        </p:txBody>
      </p:sp>
      <p:graphicFrame>
        <p:nvGraphicFramePr>
          <p:cNvPr id="8" name="Table 7"/>
          <p:cNvGraphicFramePr>
            <a:graphicFrameLocks noGrp="1"/>
          </p:cNvGraphicFramePr>
          <p:nvPr/>
        </p:nvGraphicFramePr>
        <p:xfrm>
          <a:off x="1052286" y="4689070"/>
          <a:ext cx="8127999" cy="509384"/>
        </p:xfrm>
        <a:graphic>
          <a:graphicData uri="http://schemas.openxmlformats.org/drawingml/2006/table">
            <a:tbl>
              <a:tblPr/>
              <a:tblGrid>
                <a:gridCol w="1042429"/>
                <a:gridCol w="678563"/>
                <a:gridCol w="1111269"/>
                <a:gridCol w="1150606"/>
                <a:gridCol w="1113728"/>
                <a:gridCol w="1379252"/>
                <a:gridCol w="1652152"/>
              </a:tblGrid>
              <a:tr h="346972">
                <a:tc>
                  <a:txBody>
                    <a:bodyPr/>
                    <a:lstStyle/>
                    <a:p>
                      <a:pPr algn="ctr" fontAlgn="ctr"/>
                      <a:r>
                        <a:rPr lang="en-US" sz="1100" b="1" i="0" u="none" strike="noStrike" dirty="0">
                          <a:solidFill>
                            <a:srgbClr val="000000"/>
                          </a:solidFill>
                          <a:latin typeface="Arial"/>
                        </a:rPr>
                        <a:t>Time Instance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Process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Arrival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Waiting Table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dirty="0">
                          <a:solidFill>
                            <a:srgbClr val="000000"/>
                          </a:solidFill>
                          <a:latin typeface="Arial"/>
                        </a:rPr>
                        <a:t>Execution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Initial Burst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ctr"/>
                      <a:r>
                        <a:rPr lang="en-US" sz="1100" b="1" i="0" u="none" strike="noStrike">
                          <a:solidFill>
                            <a:srgbClr val="000000"/>
                          </a:solidFill>
                          <a:latin typeface="Arial"/>
                        </a:rPr>
                        <a:t>Remaining Burst Time</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r>
              <a:tr h="162412">
                <a:tc>
                  <a:txBody>
                    <a:bodyPr/>
                    <a:lstStyle/>
                    <a:p>
                      <a:pPr algn="ctr" fontAlgn="ctr"/>
                      <a:r>
                        <a:rPr lang="en-US" sz="1000" b="0" i="0" u="none" strike="noStrike">
                          <a:solidFill>
                            <a:srgbClr val="000000"/>
                          </a:solidFill>
                          <a:latin typeface="Arial"/>
                        </a:rPr>
                        <a:t>17-21ms</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a:solidFill>
                            <a:srgbClr val="000000"/>
                          </a:solidFill>
                          <a:latin typeface="Arial"/>
                        </a:rPr>
                        <a:t>P2</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a:solidFill>
                            <a:srgbClr val="000000"/>
                          </a:solidFill>
                          <a:latin typeface="Arial"/>
                        </a:rPr>
                        <a:t>2ms</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latin typeface="Arial"/>
                        </a:rPr>
                        <a:t> </a:t>
                      </a: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a:solidFill>
                            <a:srgbClr val="000000"/>
                          </a:solidFill>
                          <a:latin typeface="Arial"/>
                        </a:rPr>
                        <a:t>4ms</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a:solidFill>
                            <a:srgbClr val="000000"/>
                          </a:solidFill>
                          <a:latin typeface="Arial"/>
                        </a:rPr>
                        <a:t>4ms</a:t>
                      </a:r>
                      <a:endParaRPr lang="en-US" sz="1000" b="0" i="0" u="none" strike="noStrike">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sngStrike" dirty="0">
                          <a:solidFill>
                            <a:srgbClr val="000000"/>
                          </a:solidFill>
                          <a:latin typeface="Arial"/>
                        </a:rPr>
                        <a:t>0ms</a:t>
                      </a:r>
                      <a:endParaRPr lang="en-US" sz="1000" b="0" i="0" u="none" strike="noStrike" dirty="0">
                        <a:solidFill>
                          <a:srgbClr val="000000"/>
                        </a:solidFill>
                        <a:latin typeface="Arial"/>
                      </a:endParaRPr>
                    </a:p>
                  </a:txBody>
                  <a:tcPr marL="7382" marR="7382" marT="73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sp>
        <p:nvSpPr>
          <p:cNvPr id="9" name="Rectangle 8"/>
          <p:cNvSpPr/>
          <p:nvPr/>
        </p:nvSpPr>
        <p:spPr>
          <a:xfrm>
            <a:off x="1088570" y="5431024"/>
            <a:ext cx="8212183" cy="369332"/>
          </a:xfrm>
          <a:prstGeom prst="rect">
            <a:avLst/>
          </a:prstGeom>
        </p:spPr>
        <p:txBody>
          <a:bodyPr wrap="square">
            <a:spAutoFit/>
          </a:bodyPr>
          <a:lstStyle/>
          <a:p>
            <a:pPr fontAlgn="base"/>
            <a:r>
              <a:rPr lang="en-US" b="1" dirty="0" smtClean="0"/>
              <a:t>At time = 21, </a:t>
            </a:r>
            <a:r>
              <a:rPr lang="en-US" dirty="0" smtClean="0"/>
              <a:t>Process P2 will finish its execution.</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5719763"/>
          </a:xfrm>
        </p:spPr>
        <p:txBody>
          <a:bodyPr/>
          <a:lstStyle/>
          <a:p>
            <a:pPr>
              <a:buNone/>
            </a:pPr>
            <a:r>
              <a:rPr lang="en-US" dirty="0" smtClean="0"/>
              <a:t>   </a:t>
            </a:r>
            <a:r>
              <a:rPr lang="en-US" sz="1800" dirty="0" smtClean="0"/>
              <a:t>CPU will be </a:t>
            </a:r>
            <a:r>
              <a:rPr lang="en-US" sz="1800" b="1" dirty="0" smtClean="0"/>
              <a:t>idle </a:t>
            </a:r>
            <a:r>
              <a:rPr lang="en-US" sz="1800" dirty="0" smtClean="0"/>
              <a:t>for 0 to 1 unit time since there is no process available in the given interval. </a:t>
            </a:r>
            <a:br>
              <a:rPr lang="en-US" sz="1800" dirty="0" smtClean="0"/>
            </a:br>
            <a:r>
              <a:rPr lang="en-US" sz="1800" dirty="0" smtClean="0"/>
              <a:t/>
            </a:r>
            <a:br>
              <a:rPr lang="en-US" sz="1800" dirty="0" smtClean="0"/>
            </a:br>
            <a:r>
              <a:rPr lang="en-US" sz="1800" b="1" dirty="0" smtClean="0"/>
              <a:t>Gantt chart will be as following below:</a:t>
            </a:r>
            <a:endParaRPr lang="en-US" sz="1800" dirty="0"/>
          </a:p>
        </p:txBody>
      </p:sp>
      <p:pic>
        <p:nvPicPr>
          <p:cNvPr id="10242" name="Picture 2" descr="https://media.geeksforgeeks.org/wp-content/uploads/20200606114826/IMG-20200606-WA0009.jpg"/>
          <p:cNvPicPr>
            <a:picLocks noChangeAspect="1" noChangeArrowheads="1"/>
          </p:cNvPicPr>
          <p:nvPr/>
        </p:nvPicPr>
        <p:blipFill>
          <a:blip r:embed="rId2"/>
          <a:srcRect/>
          <a:stretch>
            <a:fillRect/>
          </a:stretch>
        </p:blipFill>
        <p:spPr bwMode="auto">
          <a:xfrm>
            <a:off x="860969" y="1661795"/>
            <a:ext cx="5314950" cy="933450"/>
          </a:xfrm>
          <a:prstGeom prst="rect">
            <a:avLst/>
          </a:prstGeom>
          <a:noFill/>
        </p:spPr>
      </p:pic>
      <p:pic>
        <p:nvPicPr>
          <p:cNvPr id="10244" name="Picture 4" descr="https://media.geeksforgeeks.org/wp-content/uploads/20200606115003/IMG-20200606-WA0008.jpg"/>
          <p:cNvPicPr>
            <a:picLocks noChangeAspect="1" noChangeArrowheads="1"/>
          </p:cNvPicPr>
          <p:nvPr/>
        </p:nvPicPr>
        <p:blipFill>
          <a:blip r:embed="rId3"/>
          <a:srcRect/>
          <a:stretch>
            <a:fillRect/>
          </a:stretch>
        </p:blipFill>
        <p:spPr bwMode="auto">
          <a:xfrm>
            <a:off x="5903232" y="1559923"/>
            <a:ext cx="5972175" cy="1352550"/>
          </a:xfrm>
          <a:prstGeom prst="rect">
            <a:avLst/>
          </a:prstGeom>
          <a:noFill/>
        </p:spPr>
      </p:pic>
      <p:sp>
        <p:nvSpPr>
          <p:cNvPr id="6" name="Rectangle 5"/>
          <p:cNvSpPr/>
          <p:nvPr/>
        </p:nvSpPr>
        <p:spPr>
          <a:xfrm>
            <a:off x="1323702" y="2938530"/>
            <a:ext cx="10145486" cy="923330"/>
          </a:xfrm>
          <a:prstGeom prst="rect">
            <a:avLst/>
          </a:prstGeom>
        </p:spPr>
        <p:txBody>
          <a:bodyPr wrap="square">
            <a:spAutoFit/>
          </a:bodyPr>
          <a:lstStyle/>
          <a:p>
            <a:pPr fontAlgn="base"/>
            <a:r>
              <a:rPr lang="en-US" b="1" i="1" dirty="0" smtClean="0"/>
              <a:t/>
            </a:r>
            <a:br>
              <a:rPr lang="en-US" b="1" i="1" dirty="0" smtClean="0"/>
            </a:br>
            <a:r>
              <a:rPr lang="en-US" b="1" i="1" dirty="0" smtClean="0"/>
              <a:t>Turn Around Time (TAT)  </a:t>
            </a:r>
            <a:r>
              <a:rPr lang="en-US" i="1" dirty="0" smtClean="0"/>
              <a:t>= (Completion Time) - (Arrival Time)</a:t>
            </a:r>
          </a:p>
          <a:p>
            <a:pPr fontAlgn="base"/>
            <a:r>
              <a:rPr lang="en-US" b="1" i="1" dirty="0" smtClean="0"/>
              <a:t>Waiting Time (WT) </a:t>
            </a:r>
            <a:r>
              <a:rPr lang="en-US" i="1" dirty="0" smtClean="0"/>
              <a:t>= (Turn Around Time) - (Burst Time</a:t>
            </a:r>
            <a:endParaRPr lang="en-US" i="1" dirty="0"/>
          </a:p>
        </p:txBody>
      </p:sp>
      <p:sp>
        <p:nvSpPr>
          <p:cNvPr id="7" name="Rectangle 6"/>
          <p:cNvSpPr/>
          <p:nvPr/>
        </p:nvSpPr>
        <p:spPr>
          <a:xfrm>
            <a:off x="1428204" y="4137635"/>
            <a:ext cx="8486503" cy="2031325"/>
          </a:xfrm>
          <a:prstGeom prst="rect">
            <a:avLst/>
          </a:prstGeom>
        </p:spPr>
        <p:txBody>
          <a:bodyPr wrap="square">
            <a:spAutoFit/>
          </a:bodyPr>
          <a:lstStyle/>
          <a:p>
            <a:pPr fontAlgn="base"/>
            <a:r>
              <a:rPr lang="en-US" i="1" dirty="0" smtClean="0"/>
              <a:t/>
            </a:r>
            <a:br>
              <a:rPr lang="en-US" i="1" dirty="0" smtClean="0"/>
            </a:br>
            <a:r>
              <a:rPr lang="en-US" i="1" dirty="0" smtClean="0"/>
              <a:t>Total Turn Around Time = 40 ms</a:t>
            </a:r>
            <a:br>
              <a:rPr lang="en-US" i="1" dirty="0" smtClean="0"/>
            </a:br>
            <a:r>
              <a:rPr lang="en-US" i="1" dirty="0" smtClean="0"/>
              <a:t>So,</a:t>
            </a:r>
            <a:r>
              <a:rPr lang="en-US" b="1" i="1" dirty="0" smtClean="0"/>
              <a:t> Average Turn Around Time</a:t>
            </a:r>
            <a:r>
              <a:rPr lang="en-US" i="1" dirty="0" smtClean="0"/>
              <a:t> = 40/4 = 10.00 ms</a:t>
            </a:r>
          </a:p>
          <a:p>
            <a:pPr fontAlgn="base"/>
            <a:r>
              <a:rPr lang="en-US" i="1" dirty="0" smtClean="0"/>
              <a:t>And, Total Waiting Time = 20 ms</a:t>
            </a:r>
            <a:br>
              <a:rPr lang="en-US" i="1" dirty="0" smtClean="0"/>
            </a:br>
            <a:r>
              <a:rPr lang="en-US" i="1" dirty="0" smtClean="0"/>
              <a:t>So, </a:t>
            </a:r>
            <a:r>
              <a:rPr lang="en-US" b="1" i="1" dirty="0" smtClean="0"/>
              <a:t>Average Waiting Time </a:t>
            </a:r>
            <a:r>
              <a:rPr lang="en-US" i="1" dirty="0" smtClean="0"/>
              <a:t>= 20/4 = 5.00 ms </a:t>
            </a:r>
          </a:p>
          <a:p>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7017"/>
            <a:ext cx="10515600" cy="5549946"/>
          </a:xfrm>
        </p:spPr>
        <p:txBody>
          <a:bodyPr>
            <a:normAutofit/>
          </a:bodyPr>
          <a:lstStyle/>
          <a:p>
            <a:pPr fontAlgn="base">
              <a:buNone/>
            </a:pPr>
            <a:r>
              <a:rPr lang="en-US" sz="2400" b="1" dirty="0" smtClean="0"/>
              <a:t>Advantages of Longest Job First(LJF)</a:t>
            </a:r>
          </a:p>
          <a:p>
            <a:pPr fontAlgn="base"/>
            <a:r>
              <a:rPr lang="en-US" sz="2400" dirty="0" smtClean="0"/>
              <a:t>No other process can execute until the longest job or process executes completely.</a:t>
            </a:r>
          </a:p>
          <a:p>
            <a:pPr fontAlgn="base"/>
            <a:r>
              <a:rPr lang="en-US" sz="2400" dirty="0" smtClean="0"/>
              <a:t>All the jobs or processes finish at the same time approximately.</a:t>
            </a:r>
          </a:p>
          <a:p>
            <a:endParaRPr lang="en-US" sz="2400" dirty="0"/>
          </a:p>
        </p:txBody>
      </p:sp>
      <p:sp>
        <p:nvSpPr>
          <p:cNvPr id="4" name="Rectangle 3"/>
          <p:cNvSpPr/>
          <p:nvPr/>
        </p:nvSpPr>
        <p:spPr>
          <a:xfrm>
            <a:off x="840377" y="2536096"/>
            <a:ext cx="9753600" cy="3301417"/>
          </a:xfrm>
          <a:prstGeom prst="rect">
            <a:avLst/>
          </a:prstGeom>
        </p:spPr>
        <p:txBody>
          <a:bodyPr wrap="square">
            <a:spAutoFit/>
          </a:bodyPr>
          <a:lstStyle/>
          <a:p>
            <a:pPr fontAlgn="base"/>
            <a:r>
              <a:rPr lang="en-US" sz="2400" b="1" dirty="0" smtClean="0"/>
              <a:t>Disadvantages of Longest Job First CPU Scheduling Algorithm</a:t>
            </a:r>
          </a:p>
          <a:p>
            <a:pPr marL="228600" indent="-228600" fontAlgn="base">
              <a:lnSpc>
                <a:spcPct val="90000"/>
              </a:lnSpc>
              <a:spcBef>
                <a:spcPts val="1000"/>
              </a:spcBef>
              <a:buFont typeface="Arial" panose="020B0604020202020204" pitchFamily="34" charset="0"/>
              <a:buChar char="•"/>
            </a:pPr>
            <a:r>
              <a:rPr lang="en-US" sz="2400" dirty="0" smtClean="0"/>
              <a:t>This algorithm gives a very high average waiting time and average turn-around time for a given set of processes.</a:t>
            </a:r>
          </a:p>
          <a:p>
            <a:pPr marL="228600" indent="-228600" fontAlgn="base">
              <a:lnSpc>
                <a:spcPct val="90000"/>
              </a:lnSpc>
              <a:spcBef>
                <a:spcPts val="1000"/>
              </a:spcBef>
              <a:buFont typeface="Arial" panose="020B0604020202020204" pitchFamily="34" charset="0"/>
              <a:buChar char="•"/>
            </a:pPr>
            <a:r>
              <a:rPr lang="en-US" sz="2400" dirty="0" smtClean="0"/>
              <a:t>This may lead to a convoy effect.</a:t>
            </a:r>
          </a:p>
          <a:p>
            <a:pPr marL="228600" indent="-228600" fontAlgn="base">
              <a:lnSpc>
                <a:spcPct val="90000"/>
              </a:lnSpc>
              <a:spcBef>
                <a:spcPts val="1000"/>
              </a:spcBef>
              <a:buFont typeface="Arial" panose="020B0604020202020204" pitchFamily="34" charset="0"/>
              <a:buChar char="•"/>
            </a:pPr>
            <a:r>
              <a:rPr lang="en-US" sz="2400" dirty="0" smtClean="0"/>
              <a:t>It may happen that a short process may never get executed and the system keeps on executing the longer processes.</a:t>
            </a:r>
          </a:p>
          <a:p>
            <a:pPr marL="228600" indent="-228600" fontAlgn="base">
              <a:lnSpc>
                <a:spcPct val="90000"/>
              </a:lnSpc>
              <a:spcBef>
                <a:spcPts val="1000"/>
              </a:spcBef>
              <a:buFont typeface="Arial" panose="020B0604020202020204" pitchFamily="34" charset="0"/>
              <a:buChar char="•"/>
            </a:pPr>
            <a:r>
              <a:rPr lang="en-US" sz="2400" dirty="0" smtClean="0"/>
              <a:t>It reduces the processing speed and thus reduces the efficiency and utilization of the system.</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latin typeface="Times New Roman" pitchFamily="18" charset="0"/>
                <a:cs typeface="Times New Roman" pitchFamily="18" charset="0"/>
              </a:rPr>
              <a:t>Highest Response Ratio Next (HRRN) CPU Scheduling</a:t>
            </a:r>
            <a:br>
              <a:rPr lang="en-US" sz="2800" b="1" dirty="0" smtClean="0">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772886" y="1449977"/>
            <a:ext cx="10515600" cy="2638697"/>
          </a:xfrm>
        </p:spPr>
        <p:txBody>
          <a:bodyPr/>
          <a:lstStyle/>
          <a:p>
            <a:pPr algn="just">
              <a:buNone/>
            </a:pPr>
            <a:r>
              <a:rPr lang="en-US" sz="2400" dirty="0" smtClean="0"/>
              <a:t>   </a:t>
            </a:r>
            <a:r>
              <a:rPr lang="en-US" sz="2400" dirty="0" smtClean="0">
                <a:latin typeface="Times New Roman" pitchFamily="18" charset="0"/>
                <a:cs typeface="Times New Roman" pitchFamily="18" charset="0"/>
              </a:rPr>
              <a:t>One of the most optimal scheduling algorithms is the Highest Response Ratio Next (HRNN). This algorithm is a non-preemptive algorithm in which, HRRN scheduling is done based on an extra parameter, which is called Response Ratio. Given N processes with their Arrival times and Burst times, the task is to find the average waiting time and an average turnaround time using the HRRN scheduling algorithm</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
        <p:nvSpPr>
          <p:cNvPr id="4" name="Rectangle 3"/>
          <p:cNvSpPr/>
          <p:nvPr/>
        </p:nvSpPr>
        <p:spPr>
          <a:xfrm>
            <a:off x="1005841" y="3675243"/>
            <a:ext cx="10319656" cy="1569660"/>
          </a:xfrm>
          <a:prstGeom prst="rect">
            <a:avLst/>
          </a:prstGeom>
        </p:spPr>
        <p:txBody>
          <a:bodyPr wrap="square">
            <a:spAutoFit/>
          </a:bodyPr>
          <a:lstStyle/>
          <a:p>
            <a:pPr algn="just"/>
            <a:r>
              <a:rPr lang="en-US" sz="2400" dirty="0" smtClean="0">
                <a:latin typeface="Times New Roman" pitchFamily="18" charset="0"/>
                <a:cs typeface="Times New Roman" pitchFamily="18" charset="0"/>
              </a:rPr>
              <a:t>The name itself states that we need to find the response ratio of all available processes and select the one with the highest Response Ratio. It is designed to improve upon simpler algorithms like First-Come-First-Serve (FCFS) and Shortest Job Next (SJN) by balancing both the waiting time and the burst time of processes.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srcRect/>
          <a:stretch>
            <a:fillRect/>
          </a:stretch>
        </p:blipFill>
        <p:spPr bwMode="auto">
          <a:xfrm>
            <a:off x="2282825" y="1524000"/>
            <a:ext cx="7620000" cy="38100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2256700" y="1275806"/>
            <a:ext cx="7620000" cy="38100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srcRect/>
          <a:stretch>
            <a:fillRect/>
          </a:stretch>
        </p:blipFill>
        <p:spPr bwMode="auto">
          <a:xfrm>
            <a:off x="2269762" y="1210492"/>
            <a:ext cx="7620000" cy="38100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pic>
        <p:nvPicPr>
          <p:cNvPr id="17410" name="Picture 2"/>
          <p:cNvPicPr>
            <a:picLocks noChangeAspect="1" noChangeArrowheads="1"/>
          </p:cNvPicPr>
          <p:nvPr/>
        </p:nvPicPr>
        <p:blipFill>
          <a:blip r:embed="rId2"/>
          <a:srcRect/>
          <a:stretch>
            <a:fillRect/>
          </a:stretch>
        </p:blipFill>
        <p:spPr bwMode="auto">
          <a:xfrm>
            <a:off x="2282825" y="1524000"/>
            <a:ext cx="7620000" cy="38100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2"/>
          <p:cNvGraphicFramePr>
            <a:graphicFrameLocks noChangeAspect="1"/>
          </p:cNvGraphicFramePr>
          <p:nvPr/>
        </p:nvGraphicFramePr>
        <p:xfrm>
          <a:off x="1573122" y="804409"/>
          <a:ext cx="8812212" cy="1328737"/>
        </p:xfrm>
        <a:graphic>
          <a:graphicData uri="http://schemas.openxmlformats.org/presentationml/2006/ole">
            <p:oleObj spid="_x0000_s18434" name="Worksheet" r:id="rId3" imgW="8811599" imgH="1328862" progId="Excel.Sheet.12">
              <p:embed/>
            </p:oleObj>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8457"/>
            <a:ext cx="10515600" cy="2677886"/>
          </a:xfrm>
        </p:spPr>
        <p:txBody>
          <a:bodyPr/>
          <a:lstStyle/>
          <a:p>
            <a:pPr>
              <a:buNone/>
            </a:pPr>
            <a:r>
              <a:rPr lang="en-US" dirty="0" smtClean="0"/>
              <a:t>   </a:t>
            </a:r>
            <a:r>
              <a:rPr lang="en-US" b="1" dirty="0" smtClean="0"/>
              <a:t>Average Turnaround Time (TAT)</a:t>
            </a:r>
            <a:r>
              <a:rPr lang="en-US" dirty="0" smtClean="0"/>
              <a:t>:</a:t>
            </a:r>
            <a:br>
              <a:rPr lang="en-US" dirty="0" smtClean="0"/>
            </a:br>
            <a:r>
              <a:rPr lang="en-US" dirty="0" smtClean="0"/>
              <a:t>Average TAT=TAT</a:t>
            </a:r>
            <a:r>
              <a:rPr lang="en-US" baseline="-25000" dirty="0" smtClean="0"/>
              <a:t>1</a:t>
            </a:r>
            <a:r>
              <a:rPr lang="en-US" dirty="0" smtClean="0"/>
              <a:t>+TAT</a:t>
            </a:r>
            <a:r>
              <a:rPr lang="en-US" baseline="-25000" dirty="0" smtClean="0"/>
              <a:t>2</a:t>
            </a:r>
            <a:r>
              <a:rPr lang="en-US" dirty="0" smtClean="0"/>
              <a:t>+TAT</a:t>
            </a:r>
            <a:r>
              <a:rPr lang="en-US" baseline="-25000" dirty="0" smtClean="0"/>
              <a:t>3</a:t>
            </a:r>
            <a:r>
              <a:rPr lang="en-US" dirty="0" smtClean="0"/>
              <a:t>+TAT</a:t>
            </a:r>
            <a:r>
              <a:rPr lang="en-US" baseline="-25000" dirty="0" smtClean="0"/>
              <a:t>4</a:t>
            </a:r>
            <a:r>
              <a:rPr lang="en-US" dirty="0" smtClean="0"/>
              <a:t>/4 = 5+7+11+20/4 = 43/4 = 10.75</a:t>
            </a:r>
            <a:br>
              <a:rPr lang="en-US" dirty="0" smtClean="0"/>
            </a:br>
            <a:r>
              <a:rPr lang="en-US" dirty="0" smtClean="0"/>
              <a:t/>
            </a:r>
            <a:br>
              <a:rPr lang="en-US" dirty="0" smtClean="0"/>
            </a:br>
            <a:r>
              <a:rPr lang="en-US" b="1" dirty="0" smtClean="0"/>
              <a:t>Average Waiting Time (WT)</a:t>
            </a:r>
            <a:r>
              <a:rPr lang="en-US" dirty="0" smtClean="0"/>
              <a:t>:</a:t>
            </a:r>
            <a:br>
              <a:rPr lang="en-US" dirty="0" smtClean="0"/>
            </a:br>
            <a:r>
              <a:rPr lang="en-US" dirty="0" smtClean="0"/>
              <a:t>Average WT=WT</a:t>
            </a:r>
            <a:r>
              <a:rPr lang="en-US" baseline="-25000" dirty="0" smtClean="0"/>
              <a:t>1</a:t>
            </a:r>
            <a:r>
              <a:rPr lang="en-US" dirty="0" smtClean="0"/>
              <a:t>+WT</a:t>
            </a:r>
            <a:r>
              <a:rPr lang="en-US" baseline="-25000" dirty="0" smtClean="0"/>
              <a:t>2</a:t>
            </a:r>
            <a:r>
              <a:rPr lang="en-US" dirty="0" smtClean="0"/>
              <a:t>+WT</a:t>
            </a:r>
            <a:r>
              <a:rPr lang="en-US" baseline="-25000" dirty="0" smtClean="0"/>
              <a:t>3</a:t>
            </a:r>
            <a:r>
              <a:rPr lang="en-US" dirty="0" smtClean="0"/>
              <a:t>+WT</a:t>
            </a:r>
            <a:r>
              <a:rPr lang="en-US" baseline="-25000" dirty="0" smtClean="0"/>
              <a:t>4</a:t>
            </a:r>
            <a:r>
              <a:rPr lang="en-US" dirty="0" smtClean="0"/>
              <a:t>/4 = 0+4+5+12/4 = 21/4 = 5.25</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908</TotalTime>
  <Words>484</Words>
  <Application>Microsoft Office PowerPoint</Application>
  <PresentationFormat>Custom</PresentationFormat>
  <Paragraphs>166</Paragraphs>
  <Slides>12</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4" baseType="lpstr">
      <vt:lpstr>Office Theme</vt:lpstr>
      <vt:lpstr>Worksheet</vt:lpstr>
      <vt:lpstr>Longest Job First (LJF) CPU Scheduling Algorithm </vt:lpstr>
      <vt:lpstr>Slide 2</vt:lpstr>
      <vt:lpstr>Slide 3</vt:lpstr>
      <vt:lpstr>Slide 4</vt:lpstr>
      <vt:lpstr>Slide 5</vt:lpstr>
      <vt:lpstr>Highest Response Ratio Next (HRRN) CPU Scheduling </vt:lpstr>
      <vt:lpstr>Slide 7</vt:lpstr>
      <vt:lpstr>Slide 8</vt:lpstr>
      <vt:lpstr>Slide 9</vt:lpstr>
      <vt:lpstr> </vt:lpstr>
      <vt:lpstr>Slide 11</vt:lpstr>
      <vt:lpstr>Slide 12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Narayan</dc:creator>
  <cp:lastModifiedBy>Narayan</cp:lastModifiedBy>
  <cp:revision>59</cp:revision>
  <dcterms:created xsi:type="dcterms:W3CDTF">2026-07-16T08:54:26Z</dcterms:created>
  <dcterms:modified xsi:type="dcterms:W3CDTF">2026-10-06T03:12:17Z</dcterms:modified>
</cp:coreProperties>
</file>